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9"/>
  </p:notesMasterIdLst>
  <p:sldIdLst>
    <p:sldId id="256" r:id="rId2"/>
    <p:sldId id="290" r:id="rId3"/>
    <p:sldId id="291" r:id="rId4"/>
    <p:sldId id="293" r:id="rId5"/>
    <p:sldId id="294" r:id="rId6"/>
    <p:sldId id="298" r:id="rId7"/>
    <p:sldId id="295" r:id="rId8"/>
    <p:sldId id="296" r:id="rId9"/>
    <p:sldId id="300" r:id="rId10"/>
    <p:sldId id="299" r:id="rId11"/>
    <p:sldId id="324" r:id="rId12"/>
    <p:sldId id="301" r:id="rId13"/>
    <p:sldId id="297" r:id="rId14"/>
    <p:sldId id="304" r:id="rId15"/>
    <p:sldId id="305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25" r:id="rId25"/>
    <p:sldId id="326" r:id="rId26"/>
    <p:sldId id="327" r:id="rId27"/>
    <p:sldId id="328" r:id="rId28"/>
    <p:sldId id="329" r:id="rId29"/>
    <p:sldId id="321" r:id="rId30"/>
    <p:sldId id="309" r:id="rId31"/>
    <p:sldId id="322" r:id="rId32"/>
    <p:sldId id="306" r:id="rId33"/>
    <p:sldId id="308" r:id="rId34"/>
    <p:sldId id="307" r:id="rId35"/>
    <p:sldId id="289" r:id="rId36"/>
    <p:sldId id="303" r:id="rId37"/>
    <p:sldId id="310" r:id="rId38"/>
  </p:sldIdLst>
  <p:sldSz cx="12192000" cy="6858000"/>
  <p:notesSz cx="6858000" cy="9144000"/>
  <p:embeddedFontLst>
    <p:embeddedFont>
      <p:font typeface="Calibri" pitchFamily="3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95" autoAdjust="0"/>
    <p:restoredTop sz="94694"/>
  </p:normalViewPr>
  <p:slideViewPr>
    <p:cSldViewPr snapToGrid="0">
      <p:cViewPr varScale="1">
        <p:scale>
          <a:sx n="85" d="100"/>
          <a:sy n="85" d="100"/>
        </p:scale>
        <p:origin x="-17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-3077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6377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vyyp9vub]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7813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866975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365759" y="457200"/>
            <a:ext cx="4406267" cy="113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365759" y="1591293"/>
            <a:ext cx="4406267" cy="427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2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4406267" cy="107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65759" y="1472539"/>
            <a:ext cx="4406267" cy="439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65759" y="365124"/>
            <a:ext cx="11394442" cy="6237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11394442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65759" y="1825625"/>
            <a:ext cx="56540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6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 descr="Picture 4"/>
          <p:cNvPicPr preferRelativeResize="0"/>
          <p:nvPr/>
        </p:nvPicPr>
        <p:blipFill rotWithShape="1">
          <a:blip r:embed="rId2">
            <a:alphaModFix/>
          </a:blip>
          <a:srcRect l="14782" r="1177" b="33070"/>
          <a:stretch/>
        </p:blipFill>
        <p:spPr>
          <a:xfrm>
            <a:off x="-66334" y="-224413"/>
            <a:ext cx="12258335" cy="708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 descr="Picture 6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10117"/>
            <a:ext cx="4831689" cy="615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 descr="Picture 7"/>
          <p:cNvPicPr preferRelativeResize="0"/>
          <p:nvPr/>
        </p:nvPicPr>
        <p:blipFill rotWithShape="1">
          <a:blip r:embed="rId4">
            <a:alphaModFix/>
          </a:blip>
          <a:srcRect l="26633" t="1500" b="11569"/>
          <a:stretch/>
        </p:blipFill>
        <p:spPr>
          <a:xfrm>
            <a:off x="-52252" y="-104503"/>
            <a:ext cx="5865223" cy="694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 descr="Picture 12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01409"/>
            <a:ext cx="4831689" cy="615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 descr="Picture 13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 descr="Picture 10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 descr="Picture 8"/>
          <p:cNvPicPr preferRelativeResize="0"/>
          <p:nvPr/>
        </p:nvPicPr>
        <p:blipFill rotWithShape="1">
          <a:blip r:embed="rId3">
            <a:alphaModFix/>
          </a:blip>
          <a:srcRect l="19399" t="1159" b="2872"/>
          <a:stretch/>
        </p:blipFill>
        <p:spPr>
          <a:xfrm>
            <a:off x="-1" y="-16779"/>
            <a:ext cx="8934995" cy="68878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5282891" y="3233734"/>
            <a:ext cx="6509307" cy="110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7200"/>
              <a:buFont typeface="Arial"/>
              <a:buNone/>
              <a:defRPr sz="7200" b="0">
                <a:solidFill>
                  <a:srgbClr val="10234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5282891" y="4419336"/>
            <a:ext cx="628226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9" descr="Picture 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11637" y="-2755041"/>
            <a:ext cx="5591499" cy="77925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>
  <p:cSld name="Vertical Title and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4444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 descr="Picture 6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 descr="Picture 10"/>
          <p:cNvPicPr preferRelativeResize="0"/>
          <p:nvPr/>
        </p:nvPicPr>
        <p:blipFill rotWithShape="1">
          <a:blip r:embed="rId3">
            <a:alphaModFix/>
          </a:blip>
          <a:srcRect l="27355" t="66917" r="24008" b="23368"/>
          <a:stretch/>
        </p:blipFill>
        <p:spPr>
          <a:xfrm>
            <a:off x="3889984" y="5658463"/>
            <a:ext cx="4640828" cy="1199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0"/>
          <p:cNvGrpSpPr/>
          <p:nvPr/>
        </p:nvGrpSpPr>
        <p:grpSpPr>
          <a:xfrm>
            <a:off x="3452374" y="3317964"/>
            <a:ext cx="5304664" cy="915130"/>
            <a:chOff x="0" y="0"/>
            <a:chExt cx="5304662" cy="915128"/>
          </a:xfrm>
        </p:grpSpPr>
        <p:sp>
          <p:nvSpPr>
            <p:cNvPr id="73" name="Google Shape;73;p10"/>
            <p:cNvSpPr/>
            <p:nvPr/>
          </p:nvSpPr>
          <p:spPr>
            <a:xfrm>
              <a:off x="0" y="0"/>
              <a:ext cx="5304662" cy="915128"/>
            </a:xfrm>
            <a:prstGeom prst="rect">
              <a:avLst/>
            </a:prstGeom>
            <a:solidFill>
              <a:srgbClr val="102346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" name="Google Shape;74;p10" descr="image10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04662" cy="915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" name="Google Shape;75;p10" descr="Picture 12"/>
          <p:cNvPicPr preferRelativeResize="0"/>
          <p:nvPr/>
        </p:nvPicPr>
        <p:blipFill rotWithShape="1">
          <a:blip r:embed="rId5">
            <a:alphaModFix/>
          </a:blip>
          <a:srcRect t="31570" b="29953"/>
          <a:stretch/>
        </p:blipFill>
        <p:spPr>
          <a:xfrm>
            <a:off x="3678601" y="339633"/>
            <a:ext cx="4852212" cy="26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0" descr="Picture 13"/>
          <p:cNvPicPr preferRelativeResize="0"/>
          <p:nvPr/>
        </p:nvPicPr>
        <p:blipFill rotWithShape="1">
          <a:blip r:embed="rId6">
            <a:alphaModFix/>
          </a:blip>
          <a:srcRect l="26633" t="1500" b="11570"/>
          <a:stretch/>
        </p:blipFill>
        <p:spPr>
          <a:xfrm>
            <a:off x="-65315" y="-1"/>
            <a:ext cx="586522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Picture 8"/>
          <p:cNvPicPr preferRelativeResize="0"/>
          <p:nvPr/>
        </p:nvPicPr>
        <p:blipFill rotWithShape="1">
          <a:blip r:embed="rId10">
            <a:alphaModFix/>
          </a:blip>
          <a:srcRect r="12118" b="13340"/>
          <a:stretch/>
        </p:blipFill>
        <p:spPr>
          <a:xfrm>
            <a:off x="6541248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Picture 7"/>
          <p:cNvPicPr preferRelativeResize="0"/>
          <p:nvPr/>
        </p:nvPicPr>
        <p:blipFill rotWithShape="1">
          <a:blip r:embed="rId10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" name="Google Shape;10;p1" descr="Picture 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1608907"/>
            <a:ext cx="5378245" cy="2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Picture 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11.jp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yanodayweb.blogspot.com/2017/03/read-all-gujarati-news-paper.html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orgiolevi.com/2019/03/12/" TargetMode="Externa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reddit.com/r/space/10234" TargetMode="External"/><Relationship Id="rId2" Type="http://schemas.openxmlformats.org/officeDocument/2006/relationships/hyperlink" Target="https://i.redd.it/marswater.j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/>
        </p:nvSpPr>
        <p:spPr>
          <a:xfrm>
            <a:off x="3885692" y="3879305"/>
            <a:ext cx="4014215" cy="229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rgbClr val="00B050"/>
                </a:solidFill>
              </a:rPr>
              <a:t>Fake News Detection</a:t>
            </a:r>
            <a:endParaRPr sz="3200" dirty="0">
              <a:solidFill>
                <a:srgbClr val="00B05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rgbClr val="38761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endParaRPr sz="5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8897112" y="4837177"/>
            <a:ext cx="4716654" cy="191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77500" lnSpcReduction="20000"/>
          </a:bodyPr>
          <a:lstStyle/>
          <a:p>
            <a:pPr marL="342900" lvl="7" indent="-342900">
              <a:lnSpc>
                <a:spcPct val="81000"/>
              </a:lnSpc>
              <a:buSzPts val="2464"/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lang="en-US" sz="24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342900" lvl="8" indent="-342900">
              <a:lnSpc>
                <a:spcPct val="81000"/>
              </a:lnSpc>
              <a:buSzPts val="2464"/>
              <a:buFont typeface="Arial" panose="020B0604020202020204" pitchFamily="34" charset="0"/>
              <a:buChar char="•"/>
            </a:pPr>
            <a:endParaRPr lang="en-US" sz="24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lvl="8">
              <a:lnSpc>
                <a:spcPct val="81000"/>
              </a:lnSpc>
              <a:buSzPts val="2464"/>
            </a:pPr>
            <a:r>
              <a:rPr lang="en-US" sz="24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             -Ahmed Waleed</a:t>
            </a:r>
          </a:p>
          <a:p>
            <a:pPr lvl="8">
              <a:lnSpc>
                <a:spcPct val="81000"/>
              </a:lnSpc>
              <a:buSzPts val="2464"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lvl="8">
              <a:lnSpc>
                <a:spcPct val="81000"/>
              </a:lnSpc>
              <a:buSzPts val="2464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             -Omar Aly</a:t>
            </a:r>
          </a:p>
          <a:p>
            <a:pPr marR="0" lvl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 smtClean="0">
                <a:latin typeface="Calibri"/>
                <a:ea typeface="Calibri"/>
                <a:cs typeface="Calibri"/>
                <a:sym typeface="Calibri"/>
              </a:rPr>
              <a:t>Supervisor</a:t>
            </a:r>
            <a:r>
              <a:rPr lang="en-US" sz="24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0" i="0" u="none" strike="noStrike" cap="none" dirty="0" err="1">
                <a:latin typeface="Calibri"/>
                <a:ea typeface="Calibri"/>
                <a:cs typeface="Calibri"/>
                <a:sym typeface="Calibri"/>
              </a:rPr>
              <a:t>Dr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.Mai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smtClean="0">
                <a:latin typeface="Calibri"/>
                <a:ea typeface="Calibri"/>
                <a:cs typeface="Calibri"/>
                <a:sym typeface="Calibri"/>
              </a:rPr>
              <a:t>Hassan</a:t>
            </a:r>
          </a:p>
          <a:p>
            <a:pPr marL="342900" marR="0" lvl="0" indent="-3429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 panose="020B0604020202020204" pitchFamily="34" charset="0"/>
              <a:buChar char="•"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GP1: Semester: </a:t>
            </a:r>
            <a:r>
              <a:rPr lang="en-US" sz="2400" i="0" u="none" strike="noStrike" cap="none" dirty="0">
                <a:latin typeface="Calibri"/>
                <a:ea typeface="Calibri"/>
                <a:cs typeface="Calibri"/>
                <a:sym typeface="Calibri"/>
              </a:rPr>
              <a:t>Fall</a:t>
            </a:r>
            <a:r>
              <a:rPr lang="en-US" sz="24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2025</a:t>
            </a:r>
            <a:endParaRPr lang="en-US" sz="32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</a:pP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circular logo with a head and text&#10;&#10;Description automatically generated">
            <a:extLst>
              <a:ext uri="{FF2B5EF4-FFF2-40B4-BE49-F238E27FC236}">
                <a16:creationId xmlns:a16="http://schemas.microsoft.com/office/drawing/2014/main" xmlns="" id="{BADA7F01-CB2B-C5E9-A52A-B445BC215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73" y="105809"/>
            <a:ext cx="1070361" cy="1070361"/>
          </a:xfrm>
          <a:prstGeom prst="rect">
            <a:avLst/>
          </a:prstGeom>
        </p:spPr>
      </p:pic>
      <p:pic>
        <p:nvPicPr>
          <p:cNvPr id="4" name="Picture 3" descr="A gold logo with black background&#10;&#10;Description automatically generated">
            <a:extLst>
              <a:ext uri="{FF2B5EF4-FFF2-40B4-BE49-F238E27FC236}">
                <a16:creationId xmlns:a16="http://schemas.microsoft.com/office/drawing/2014/main" xmlns="" id="{9DAFB2A7-43A1-50A2-337B-FBB0577BA1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0" y="105809"/>
            <a:ext cx="1623523" cy="1070361"/>
          </a:xfrm>
          <a:prstGeom prst="rect">
            <a:avLst/>
          </a:prstGeom>
        </p:spPr>
      </p:pic>
      <p:pic>
        <p:nvPicPr>
          <p:cNvPr id="7" name="Graphic 6" descr="Employee badge outline">
            <a:extLst>
              <a:ext uri="{FF2B5EF4-FFF2-40B4-BE49-F238E27FC236}">
                <a16:creationId xmlns:a16="http://schemas.microsoft.com/office/drawing/2014/main" xmlns="" id="{8C4164F1-B4AB-7161-C8EA-427B808EBE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269008" y="5025752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E0556F6-4A58-A322-E3EC-FAFFC3DCC2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8968" y="5411007"/>
            <a:ext cx="457240" cy="457240"/>
          </a:xfrm>
          <a:prstGeom prst="rect">
            <a:avLst/>
          </a:prstGeom>
        </p:spPr>
      </p:pic>
      <p:pic>
        <p:nvPicPr>
          <p:cNvPr id="1026" name="Picture 2" descr="D:\Desktop\99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4" y="2083433"/>
            <a:ext cx="1355789" cy="136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esktop\99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58" y="3566779"/>
            <a:ext cx="1327866" cy="1362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esktop\99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57" y="5023721"/>
            <a:ext cx="1362431" cy="139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:\Desktop\University of Greenwich - Blue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752" y="-234836"/>
            <a:ext cx="3505621" cy="168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614A0-FCEB-B948-0E96-35042F95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Outlines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A5541D-F3C2-7BE1-368E-FD35288FA457}"/>
              </a:ext>
            </a:extLst>
          </p:cNvPr>
          <p:cNvSpPr txBox="1"/>
          <p:nvPr/>
        </p:nvSpPr>
        <p:spPr>
          <a:xfrm>
            <a:off x="4412488" y="2496312"/>
            <a:ext cx="4261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System Architecture</a:t>
            </a:r>
          </a:p>
          <a:p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Requirements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C5A7996-3C96-3979-B9D2-9E700AD115AD}"/>
              </a:ext>
            </a:extLst>
          </p:cNvPr>
          <p:cNvSpPr txBox="1"/>
          <p:nvPr/>
        </p:nvSpPr>
        <p:spPr>
          <a:xfrm>
            <a:off x="411987" y="2496312"/>
            <a:ext cx="34041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Motivation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Problem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Objectives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43682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991" y="348796"/>
            <a:ext cx="11394442" cy="1325563"/>
          </a:xfrm>
        </p:spPr>
        <p:txBody>
          <a:bodyPr/>
          <a:lstStyle/>
          <a:p>
            <a:r>
              <a:rPr lang="x-none">
                <a:solidFill>
                  <a:schemeClr val="accent1">
                    <a:lumMod val="50000"/>
                  </a:schemeClr>
                </a:solidFill>
              </a:rPr>
              <a:t>Introduction </a:t>
            </a:r>
            <a:r>
              <a:rPr lang="en-US" dirty="0">
                <a:solidFill>
                  <a:srgbClr val="006499"/>
                </a:solidFill>
              </a:rPr>
              <a:t>(1/2)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1885405"/>
            <a:ext cx="5790112" cy="456435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•</a:t>
            </a:r>
            <a:r>
              <a:rPr lang="en-US" b="1" dirty="0"/>
              <a:t>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Fake news has become a serious problem </a:t>
            </a:r>
          </a:p>
          <a:p>
            <a:pPr marL="11430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on social media and news platforms.                            </a:t>
            </a:r>
          </a:p>
          <a:p>
            <a:pPr marL="571500" lvl="1" indent="0">
              <a:buNone/>
            </a:pPr>
            <a:endParaRPr lang="en-US" sz="2000" dirty="0"/>
          </a:p>
          <a:p>
            <a:pPr marL="114300" indent="0" algn="r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</a:t>
            </a:r>
            <a:endParaRPr lang="ar-EG" sz="2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155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EG" dirty="0"/>
          </a:p>
        </p:txBody>
      </p:sp>
      <p:pic>
        <p:nvPicPr>
          <p:cNvPr id="9" name="Google Shape;388;p38">
            <a:extLst>
              <a:ext uri="{FF2B5EF4-FFF2-40B4-BE49-F238E27FC236}">
                <a16:creationId xmlns:a16="http://schemas.microsoft.com/office/drawing/2014/main" xmlns="" id="{F60C32B5-C306-628C-7E66-D843D93ED65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 amt="85000"/>
          </a:blip>
          <a:stretch/>
        </p:blipFill>
        <p:spPr>
          <a:xfrm>
            <a:off x="519998" y="4237761"/>
            <a:ext cx="4442184" cy="2423043"/>
          </a:xfrm>
          <a:prstGeom prst="rect">
            <a:avLst/>
          </a:prstGeom>
        </p:spPr>
      </p:pic>
      <p:pic>
        <p:nvPicPr>
          <p:cNvPr id="11" name="Picture 10" descr="Media Disinformation – EMAC">
            <a:extLst>
              <a:ext uri="{FF2B5EF4-FFF2-40B4-BE49-F238E27FC236}">
                <a16:creationId xmlns:a16="http://schemas.microsoft.com/office/drawing/2014/main" xmlns="" id="{89261D6E-5488-7D57-6138-DB00BAB34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363" y="3829801"/>
            <a:ext cx="4567364" cy="286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878210" y="1860395"/>
            <a:ext cx="5751896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•</a:t>
            </a:r>
            <a:r>
              <a:rPr lang="en-US" sz="3200" b="1" dirty="0"/>
              <a:t> </a:t>
            </a:r>
            <a:r>
              <a:rPr lang="en-US" sz="2000" dirty="0"/>
              <a:t>what if the picture and the words work together</a:t>
            </a:r>
          </a:p>
          <a:p>
            <a:r>
              <a:rPr lang="en-US" sz="2000" dirty="0"/>
              <a:t> to tell one lie?!</a:t>
            </a:r>
            <a:endParaRPr lang="en-US" dirty="0"/>
          </a:p>
          <a:p>
            <a:r>
              <a:rPr lang="en-US" sz="3200" b="1" dirty="0">
                <a:solidFill>
                  <a:schemeClr val="accent6"/>
                </a:solidFill>
              </a:rPr>
              <a:t>•</a:t>
            </a:r>
            <a:r>
              <a:rPr lang="en-US" sz="800" dirty="0">
                <a:solidFill>
                  <a:schemeClr val="accent6"/>
                </a:solidFill>
              </a:rPr>
              <a:t>•</a:t>
            </a:r>
            <a:r>
              <a:rPr lang="en-US" sz="2000" dirty="0"/>
              <a:t>Advancements in AI and editing tools </a:t>
            </a:r>
          </a:p>
          <a:p>
            <a:pPr marL="114300" indent="0">
              <a:buNone/>
            </a:pPr>
            <a:r>
              <a:rPr lang="en-US" sz="2000" dirty="0"/>
              <a:t>make it easier to generate fake </a:t>
            </a:r>
            <a:r>
              <a:rPr lang="en-US" sz="2000" dirty="0" smtClean="0"/>
              <a:t>text, and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 smtClean="0"/>
              <a:t>images. </a:t>
            </a:r>
            <a:r>
              <a:rPr lang="en-US" sz="2000" dirty="0"/>
              <a:t>led to </a:t>
            </a:r>
            <a:r>
              <a:rPr lang="en-US" sz="2000" b="1" dirty="0"/>
              <a:t>multimodal fake news</a:t>
            </a:r>
          </a:p>
          <a:p>
            <a:pPr marL="114300" indent="0">
              <a:buNone/>
            </a:pPr>
            <a:endParaRPr lang="en-US" sz="800" dirty="0"/>
          </a:p>
          <a:p>
            <a:pPr marL="114300" indent="0">
              <a:buNone/>
            </a:pPr>
            <a:r>
              <a:rPr lang="en-US" sz="800" dirty="0"/>
              <a:t/>
            </a:r>
            <a:br>
              <a:rPr lang="en-US" sz="800" dirty="0"/>
            </a:br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2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>
                <a:solidFill>
                  <a:schemeClr val="accent1">
                    <a:lumMod val="50000"/>
                  </a:schemeClr>
                </a:solidFill>
              </a:rPr>
              <a:t>Introduction </a:t>
            </a:r>
            <a:r>
              <a:rPr lang="en-US" dirty="0">
                <a:solidFill>
                  <a:srgbClr val="006499"/>
                </a:solidFill>
              </a:rPr>
              <a:t>(2/2)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690" y="1933633"/>
            <a:ext cx="6127639" cy="456435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•</a:t>
            </a:r>
            <a:r>
              <a:rPr lang="en-US" sz="2400" b="1" dirty="0"/>
              <a:t> What is Multimodal Fake News?</a:t>
            </a:r>
          </a:p>
          <a:p>
            <a:pPr lvl="1"/>
            <a:endParaRPr lang="en-US" sz="2400" b="1" dirty="0"/>
          </a:p>
          <a:p>
            <a:pPr lvl="1"/>
            <a:r>
              <a:rPr lang="en-US" sz="2400" b="1" dirty="0"/>
              <a:t>Multimodal Fake news </a:t>
            </a:r>
            <a:r>
              <a:rPr lang="en-US" sz="2400" dirty="0"/>
              <a:t>is false or misleading news that mixes text ,images </a:t>
            </a:r>
            <a:r>
              <a:rPr lang="en-US" sz="2400" dirty="0" smtClean="0"/>
              <a:t>or </a:t>
            </a:r>
            <a:r>
              <a:rPr lang="en-US" sz="2400" dirty="0"/>
              <a:t>other media to deceive people</a:t>
            </a:r>
          </a:p>
          <a:p>
            <a:pPr marL="571500" lvl="1" indent="0">
              <a:buNone/>
            </a:pPr>
            <a:endParaRPr lang="en-US" sz="2400" i="1" dirty="0"/>
          </a:p>
          <a:p>
            <a:pPr lvl="1"/>
            <a:r>
              <a:rPr lang="en-US" sz="2400" dirty="0"/>
              <a:t>It is essential to develop robust multimodal models capable of accurately detecting fake news</a:t>
            </a:r>
            <a:endParaRPr lang="en-US" sz="2400" b="1" dirty="0"/>
          </a:p>
        </p:txBody>
      </p:sp>
      <p:pic>
        <p:nvPicPr>
          <p:cNvPr id="2052" name="Picture 4" descr="D:\Desktop\sss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839" y="3147990"/>
            <a:ext cx="3548087" cy="297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day's Fake News Is Different Than in the Past | Psychology Tod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5708">
            <a:off x="7080958" y="1694863"/>
            <a:ext cx="1781760" cy="178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7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Motivation</a:t>
            </a:r>
            <a:r>
              <a:rPr lang="en-US" dirty="0">
                <a:solidFill>
                  <a:srgbClr val="006499"/>
                </a:solidFill>
              </a:rPr>
              <a:t>(1/2) 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780" y="2074637"/>
            <a:ext cx="8229601" cy="456435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•</a:t>
            </a:r>
            <a:r>
              <a:rPr lang="en-US" sz="2000" b="1" dirty="0"/>
              <a:t> Rising Spread of Misinformation </a:t>
            </a:r>
          </a:p>
          <a:p>
            <a:pPr marL="114300" indent="0">
              <a:buNone/>
            </a:pPr>
            <a:r>
              <a:rPr lang="en-US" sz="2000" dirty="0"/>
              <a:t>Fake news spreads rapidly on social media and strongly influences people’s beliefs and opinions.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•</a:t>
            </a:r>
            <a:r>
              <a:rPr lang="en-US" sz="2000" b="1" dirty="0"/>
              <a:t> Serious Real-World Impact  </a:t>
            </a:r>
          </a:p>
          <a:p>
            <a:pPr marL="114300" indent="0">
              <a:buNone/>
            </a:pPr>
            <a:r>
              <a:rPr lang="en-US" sz="2000" dirty="0"/>
              <a:t>It can lead to public confusion, harm health awareness, and create fear during critical situations.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•</a:t>
            </a:r>
            <a:r>
              <a:rPr lang="en-US" sz="2000" b="1" dirty="0"/>
              <a:t> Need for Reliable Detection Tools  </a:t>
            </a:r>
          </a:p>
          <a:p>
            <a:pPr marL="114300" indent="0">
              <a:buNone/>
            </a:pPr>
            <a:r>
              <a:rPr lang="en-US" sz="2000" dirty="0"/>
              <a:t>There is a strong need for intelligent systems to identify and limit fake news, in order to protect online trust.</a:t>
            </a:r>
          </a:p>
          <a:p>
            <a:endParaRPr lang="en-US" dirty="0"/>
          </a:p>
        </p:txBody>
      </p:sp>
      <p:pic>
        <p:nvPicPr>
          <p:cNvPr id="5" name="Picture 4" descr="A folded newspaper with black text&#10;&#10;AI-generated content may be incorrect.">
            <a:extLst>
              <a:ext uri="{FF2B5EF4-FFF2-40B4-BE49-F238E27FC236}">
                <a16:creationId xmlns:a16="http://schemas.microsoft.com/office/drawing/2014/main" xmlns="" id="{D9610B72-1E87-9DF3-E781-9B8D6A8AF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8439381" y="2501183"/>
            <a:ext cx="2476038" cy="1855631"/>
          </a:xfrm>
          <a:prstGeom prst="rect">
            <a:avLst/>
          </a:prstGeom>
        </p:spPr>
      </p:pic>
      <p:pic>
        <p:nvPicPr>
          <p:cNvPr id="6" name="Picture 5" descr="A red stamp with black text&#10;&#10;AI-generated content may be incorrect.">
            <a:extLst>
              <a:ext uri="{FF2B5EF4-FFF2-40B4-BE49-F238E27FC236}">
                <a16:creationId xmlns:a16="http://schemas.microsoft.com/office/drawing/2014/main" xmlns="" id="{ADDFE535-ADE3-EEB7-175B-59006E611F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521421" y="4356814"/>
            <a:ext cx="2476038" cy="13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1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Motivation</a:t>
            </a:r>
            <a:r>
              <a:rPr lang="en-US" dirty="0">
                <a:solidFill>
                  <a:srgbClr val="006499"/>
                </a:solidFill>
              </a:rPr>
              <a:t>(2/2)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419" y="2039817"/>
            <a:ext cx="5138226" cy="4564353"/>
          </a:xfrm>
        </p:spPr>
        <p:txBody>
          <a:bodyPr/>
          <a:lstStyle/>
          <a:p>
            <a:pPr marL="11430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•</a:t>
            </a:r>
            <a:r>
              <a:rPr lang="en-US" sz="2000" i="1" dirty="0"/>
              <a:t> </a:t>
            </a:r>
            <a:r>
              <a:rPr lang="en-US" sz="2000" b="1" dirty="0"/>
              <a:t>COVID-19 Misinformation:  </a:t>
            </a:r>
          </a:p>
          <a:p>
            <a:r>
              <a:rPr lang="en-US" sz="1800" dirty="0"/>
              <a:t>The graph highlights a </a:t>
            </a:r>
            <a:r>
              <a:rPr lang="en-US" sz="1800" b="1" dirty="0"/>
              <a:t>notable rise in multimodal fake news detection publications since 2020</a:t>
            </a:r>
            <a:r>
              <a:rPr lang="en-US" sz="1800" dirty="0"/>
              <a:t>, likely driven by the </a:t>
            </a:r>
            <a:r>
              <a:rPr lang="en-US" sz="1800" b="1" dirty="0"/>
              <a:t>increased spread of misinformation</a:t>
            </a:r>
            <a:r>
              <a:rPr lang="en-US" sz="1800" dirty="0"/>
              <a:t> during the </a:t>
            </a:r>
            <a:r>
              <a:rPr lang="en-US" sz="1800" b="1" dirty="0"/>
              <a:t>COVID-19 pandemic</a:t>
            </a:r>
            <a:r>
              <a:rPr lang="en-US" sz="1800" dirty="0"/>
              <a:t>.</a:t>
            </a:r>
          </a:p>
          <a:p>
            <a:endParaRPr lang="ar-EG" dirty="0"/>
          </a:p>
        </p:txBody>
      </p:sp>
      <p:sp>
        <p:nvSpPr>
          <p:cNvPr id="5" name="TextBox 4"/>
          <p:cNvSpPr txBox="1"/>
          <p:nvPr/>
        </p:nvSpPr>
        <p:spPr>
          <a:xfrm>
            <a:off x="6418385" y="2004646"/>
            <a:ext cx="5090744" cy="4462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b="1" dirty="0"/>
              <a:t> </a:t>
            </a:r>
            <a:r>
              <a:rPr lang="en-US" sz="1800" b="1" dirty="0"/>
              <a:t>Election Misinformation </a:t>
            </a:r>
          </a:p>
          <a:p>
            <a:pPr marL="114300" indent="0">
              <a:buNone/>
            </a:pPr>
            <a:r>
              <a:rPr lang="en-US" sz="2000" dirty="0"/>
              <a:t>fake news spread to influence voters and damage candidates’ reputations, leading to mistrust in the political system.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ar-EG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029" y="3732875"/>
            <a:ext cx="4233456" cy="2381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336CBAD3-8AA8-1D6C-553F-2008949D3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43" y="3942135"/>
            <a:ext cx="4677823" cy="280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71750" y="450894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</a:t>
            </a:r>
            <a:r>
              <a:rPr lang="en-US" dirty="0" smtClean="0"/>
              <a:t>.[8]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7860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Problem Definition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endParaRPr lang="x-none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365759" y="2037805"/>
            <a:ext cx="11826241" cy="456435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400" dirty="0"/>
              <a:t>Fake news on social media is becoming more complex, combining </a:t>
            </a:r>
            <a:r>
              <a:rPr lang="en-US" sz="2400" b="1" dirty="0"/>
              <a:t>text, images</a:t>
            </a:r>
          </a:p>
          <a:p>
            <a:pPr marL="114300" indent="0">
              <a:buNone/>
            </a:pPr>
            <a:r>
              <a:rPr lang="en-US" sz="2400" b="1" dirty="0"/>
              <a:t>   </a:t>
            </a:r>
            <a:r>
              <a:rPr lang="en-US" sz="2400" dirty="0"/>
              <a:t> which makes detection more challenging.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400" dirty="0"/>
              <a:t>Most existing models focus only on </a:t>
            </a:r>
            <a:r>
              <a:rPr lang="en-US" sz="2400" b="1" dirty="0"/>
              <a:t>text-based features</a:t>
            </a:r>
            <a:r>
              <a:rPr lang="en-US" sz="2400" dirty="0"/>
              <a:t> and ignore visual content, while   </a:t>
            </a:r>
          </a:p>
          <a:p>
            <a:pPr marL="114300" indent="0">
              <a:buNone/>
            </a:pPr>
            <a:r>
              <a:rPr lang="en-US" sz="2400" dirty="0"/>
              <a:t>    multimodal models struggle to combine both effectively.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400" dirty="0"/>
              <a:t>Developing a </a:t>
            </a:r>
            <a:r>
              <a:rPr lang="en-US" sz="2400" b="1" dirty="0"/>
              <a:t>hybrid multimodal model</a:t>
            </a:r>
            <a:r>
              <a:rPr lang="en-US" sz="2400" dirty="0"/>
              <a:t> that </a:t>
            </a:r>
            <a:r>
              <a:rPr lang="en-US" sz="2400" dirty="0" smtClean="0"/>
              <a:t>mix text </a:t>
            </a:r>
            <a:r>
              <a:rPr lang="en-US" sz="2400" dirty="0"/>
              <a:t>and image features can </a:t>
            </a:r>
          </a:p>
          <a:p>
            <a:pPr marL="114300" indent="0">
              <a:buNone/>
            </a:pPr>
            <a:r>
              <a:rPr lang="en-US" sz="2400" dirty="0"/>
              <a:t>    significantly </a:t>
            </a:r>
            <a:r>
              <a:rPr lang="en-US" sz="2400" b="1" dirty="0"/>
              <a:t>improve detection accuracy and reliability</a:t>
            </a:r>
            <a:r>
              <a:rPr lang="en-US" sz="2400" dirty="0"/>
              <a:t> in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328959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184" y="2036784"/>
            <a:ext cx="7562899" cy="4564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•</a:t>
            </a:r>
            <a:r>
              <a:rPr lang="en-US" sz="2400" b="1" dirty="0"/>
              <a:t> Develop a Multimodal Detection System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</a:rPr>
              <a:t>•</a:t>
            </a:r>
            <a:r>
              <a:rPr lang="en-US" sz="2400" dirty="0"/>
              <a:t> </a:t>
            </a:r>
            <a:r>
              <a:rPr lang="en-US" sz="2400" b="1" dirty="0"/>
              <a:t>Enhance Detection Accuracy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</a:rPr>
              <a:t>•</a:t>
            </a:r>
            <a:r>
              <a:rPr lang="en-US" sz="2400" b="1" dirty="0"/>
              <a:t> Provide Transparent User Feedback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</a:rPr>
              <a:t>•</a:t>
            </a:r>
            <a:r>
              <a:rPr lang="en-US" sz="2400" dirty="0"/>
              <a:t> </a:t>
            </a:r>
            <a:r>
              <a:rPr lang="en-US" sz="2400" b="1" dirty="0"/>
              <a:t>Design a User-Friendly Web Interface</a:t>
            </a:r>
            <a:r>
              <a:rPr lang="en-US" sz="2400" dirty="0"/>
              <a:t/>
            </a:r>
            <a:br>
              <a:rPr lang="en-US" sz="2400" dirty="0"/>
            </a:br>
            <a:endParaRPr lang="ar-EG" dirty="0"/>
          </a:p>
        </p:txBody>
      </p:sp>
      <p:pic>
        <p:nvPicPr>
          <p:cNvPr id="5" name="Picture 4" descr="A paper with a dart and a target&#10;&#10;AI-generated content may be incorrect.">
            <a:extLst>
              <a:ext uri="{FF2B5EF4-FFF2-40B4-BE49-F238E27FC236}">
                <a16:creationId xmlns:a16="http://schemas.microsoft.com/office/drawing/2014/main" xmlns="" id="{B786E0AC-F9F8-8FD1-1987-F71883FBB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79" y="2483750"/>
            <a:ext cx="3591224" cy="367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5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82D80E-3351-71E3-4E17-6688D3DF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8" y="467298"/>
            <a:ext cx="6727768" cy="88178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Literature Review – Paper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3B7981-DFD1-437D-A8C1-0172FE4DF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868" y="1887873"/>
            <a:ext cx="11105805" cy="116955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i="1" dirty="0"/>
              <a:t>Fake News Detection Using Machine Learning and Web Scraping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i="1" dirty="0"/>
              <a:t>IRJET</a:t>
            </a:r>
            <a:r>
              <a:rPr lang="en-US" dirty="0"/>
              <a:t>, Vol. 11, Issue 5, 2024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D08607A-7A80-8968-648F-4E8EB31920DD}"/>
              </a:ext>
            </a:extLst>
          </p:cNvPr>
          <p:cNvSpPr txBox="1"/>
          <p:nvPr/>
        </p:nvSpPr>
        <p:spPr>
          <a:xfrm>
            <a:off x="6245868" y="2958799"/>
            <a:ext cx="505229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Results</a:t>
            </a:r>
          </a:p>
          <a:p>
            <a:r>
              <a:rPr lang="en-US" sz="1800" dirty="0"/>
              <a:t>Random Forest performed best (Accuracy: 92%).</a:t>
            </a:r>
            <a:br>
              <a:rPr lang="en-US" sz="1800" dirty="0"/>
            </a:br>
            <a:r>
              <a:rPr lang="en-US" sz="1800" dirty="0"/>
              <a:t>Web scraping improved real-time detection and reliability.</a:t>
            </a:r>
          </a:p>
          <a:p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568C1DA-EF87-2BA0-79B0-2D940EA87D83}"/>
              </a:ext>
            </a:extLst>
          </p:cNvPr>
          <p:cNvSpPr txBox="1"/>
          <p:nvPr/>
        </p:nvSpPr>
        <p:spPr>
          <a:xfrm>
            <a:off x="443930" y="2955935"/>
            <a:ext cx="56618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Methodology</a:t>
            </a:r>
          </a:p>
          <a:p>
            <a:r>
              <a:rPr lang="en-US" sz="1800" dirty="0"/>
              <a:t>Collected live news from online sources.</a:t>
            </a:r>
          </a:p>
          <a:p>
            <a:r>
              <a:rPr lang="en-US" sz="1800" dirty="0"/>
              <a:t>Preprocessed text using NLP.</a:t>
            </a:r>
          </a:p>
          <a:p>
            <a:r>
              <a:rPr lang="en-US" sz="1800" dirty="0"/>
              <a:t>Trained models: Random Forest, Logistic Regression, KNN, etc.</a:t>
            </a:r>
          </a:p>
          <a:p>
            <a:r>
              <a:rPr lang="en-US" sz="1800" dirty="0"/>
              <a:t>Evaluated using Accuracy, Precision, Recall, and F1-score.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F9662F-59CB-B6E5-F103-D468828FF0D7}"/>
              </a:ext>
            </a:extLst>
          </p:cNvPr>
          <p:cNvSpPr txBox="1"/>
          <p:nvPr/>
        </p:nvSpPr>
        <p:spPr>
          <a:xfrm>
            <a:off x="3712686" y="5295037"/>
            <a:ext cx="562494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Research Gap</a:t>
            </a:r>
          </a:p>
          <a:p>
            <a:r>
              <a:rPr lang="en-US" sz="1800" dirty="0"/>
              <a:t>Relies only on text-based analysis.</a:t>
            </a:r>
          </a:p>
          <a:p>
            <a:r>
              <a:rPr lang="en-US" sz="1800" dirty="0"/>
              <a:t>No real user interface.</a:t>
            </a:r>
          </a:p>
          <a:p>
            <a:r>
              <a:rPr lang="en-US" sz="1800" dirty="0"/>
              <a:t>Lacks image or multimodal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42132" y="439315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Ref.[1]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8412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365125"/>
            <a:ext cx="7498081" cy="105219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Literature Review – Paper 2</a:t>
            </a:r>
            <a:endParaRPr lang="ar-EG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79" y="1931125"/>
            <a:ext cx="11394442" cy="108639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Title:</a:t>
            </a:r>
            <a:r>
              <a:rPr lang="en-US" dirty="0"/>
              <a:t> Multimodal Fake News Detection </a:t>
            </a:r>
            <a:r>
              <a:rPr lang="en-US" dirty="0" smtClean="0"/>
              <a:t>Progressive </a:t>
            </a:r>
            <a:r>
              <a:rPr lang="en-US" dirty="0"/>
              <a:t>Fusion Networks</a:t>
            </a:r>
          </a:p>
          <a:p>
            <a:pPr marL="114300" indent="0">
              <a:buNone/>
            </a:pP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i="1" dirty="0"/>
              <a:t>(Elsevier)</a:t>
            </a:r>
            <a:r>
              <a:rPr lang="en-US" dirty="0"/>
              <a:t>, Vol. 59, Issue 6, 2023</a:t>
            </a:r>
            <a:endParaRPr lang="ar-EG" b="1" dirty="0"/>
          </a:p>
        </p:txBody>
      </p:sp>
      <p:sp>
        <p:nvSpPr>
          <p:cNvPr id="6" name="Rectangle 5"/>
          <p:cNvSpPr/>
          <p:nvPr/>
        </p:nvSpPr>
        <p:spPr>
          <a:xfrm>
            <a:off x="208284" y="3195620"/>
            <a:ext cx="557783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Methodology</a:t>
            </a:r>
            <a:r>
              <a:rPr lang="en-US" dirty="0"/>
              <a:t/>
            </a:r>
            <a:br>
              <a:rPr lang="en-US" dirty="0"/>
            </a:br>
            <a:r>
              <a:rPr lang="en-US" sz="1800" dirty="0"/>
              <a:t>Extracted text features using BERT.</a:t>
            </a:r>
            <a:br>
              <a:rPr lang="en-US" sz="1800" dirty="0"/>
            </a:br>
            <a:r>
              <a:rPr lang="en-US" sz="1800" dirty="0"/>
              <a:t>Extracted image features using </a:t>
            </a:r>
            <a:r>
              <a:rPr lang="en-US" sz="1800" dirty="0" err="1"/>
              <a:t>Swin</a:t>
            </a:r>
            <a:r>
              <a:rPr lang="en-US" sz="1800" dirty="0"/>
              <a:t> Transformer, VGG19, and Discrete Fourier Transform (DFT).</a:t>
            </a:r>
            <a:br>
              <a:rPr lang="en-US" sz="1800" dirty="0"/>
            </a:br>
            <a:r>
              <a:rPr lang="en-US" sz="1800" dirty="0"/>
              <a:t>Applied progressive fusion through an MLP Mixer to combine shallow and deep features.</a:t>
            </a:r>
            <a:br>
              <a:rPr lang="en-US" sz="1800" dirty="0"/>
            </a:br>
            <a:r>
              <a:rPr lang="en-US" sz="1800" dirty="0"/>
              <a:t>Classified outputs into Fake or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86122" y="3233249"/>
            <a:ext cx="55829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Results</a:t>
            </a:r>
            <a:r>
              <a:rPr lang="en-US" dirty="0"/>
              <a:t/>
            </a:r>
            <a:br>
              <a:rPr lang="en-US" dirty="0"/>
            </a:br>
            <a:r>
              <a:rPr lang="en-US" sz="1800" dirty="0"/>
              <a:t>Achieved 83.8% accuracy (</a:t>
            </a:r>
            <a:r>
              <a:rPr lang="en-US" sz="1800" dirty="0" err="1"/>
              <a:t>Weibo</a:t>
            </a:r>
            <a:r>
              <a:rPr lang="en-US" sz="1800" dirty="0"/>
              <a:t>) and 83.3% (Twitter).</a:t>
            </a:r>
            <a:br>
              <a:rPr lang="en-US" sz="1800" dirty="0"/>
            </a:br>
            <a:r>
              <a:rPr lang="en-US" sz="1800" dirty="0"/>
              <a:t>Outperformed previous models like </a:t>
            </a:r>
            <a:r>
              <a:rPr lang="en-US" sz="1800" dirty="0" err="1"/>
              <a:t>SpotFake</a:t>
            </a:r>
            <a:r>
              <a:rPr lang="en-US" sz="1800" dirty="0"/>
              <a:t>+, EANN, and MVAE by about 5%.</a:t>
            </a:r>
            <a:endParaRPr lang="ar-EG" sz="1800" dirty="0"/>
          </a:p>
        </p:txBody>
      </p:sp>
      <p:sp>
        <p:nvSpPr>
          <p:cNvPr id="8" name="Rectangle 7"/>
          <p:cNvSpPr/>
          <p:nvPr/>
        </p:nvSpPr>
        <p:spPr>
          <a:xfrm>
            <a:off x="3714337" y="5391244"/>
            <a:ext cx="620268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• </a:t>
            </a:r>
            <a:r>
              <a:rPr lang="en-US" sz="1800" b="1" dirty="0"/>
              <a:t>Research Gap</a:t>
            </a:r>
            <a:r>
              <a:rPr lang="en-US" dirty="0"/>
              <a:t/>
            </a:r>
            <a:br>
              <a:rPr lang="en-US" dirty="0"/>
            </a:br>
            <a:r>
              <a:rPr lang="en-US" sz="1800" dirty="0"/>
              <a:t>Model is computationally heavy and </a:t>
            </a:r>
            <a:r>
              <a:rPr lang="en-US" sz="1800" dirty="0" smtClean="0"/>
              <a:t>lacks</a:t>
            </a:r>
          </a:p>
          <a:p>
            <a:r>
              <a:rPr lang="en-US" sz="1800" dirty="0" smtClean="0"/>
              <a:t>interpretability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Model  can’t explain why a news item is fake or real</a:t>
            </a:r>
            <a:r>
              <a:rPr lang="en-US" dirty="0"/>
              <a:t>.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0971750" y="450894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</a:t>
            </a:r>
            <a:r>
              <a:rPr lang="en-US" dirty="0" smtClean="0"/>
              <a:t>.[7]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16636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365125"/>
            <a:ext cx="7498081" cy="105219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Literature Review – Paper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ar-EG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79" y="1931125"/>
            <a:ext cx="11394442" cy="1086395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 smtClean="0"/>
              <a:t>Title:</a:t>
            </a:r>
            <a:r>
              <a:rPr lang="en-US" dirty="0" smtClean="0"/>
              <a:t> </a:t>
            </a:r>
            <a:r>
              <a:rPr lang="en-US" dirty="0"/>
              <a:t>Multimodal Fake News Detection Using Fine-Grained Classification on the </a:t>
            </a:r>
            <a:r>
              <a:rPr lang="en-US" dirty="0" err="1"/>
              <a:t>Fakeddit</a:t>
            </a:r>
            <a:r>
              <a:rPr lang="en-US" dirty="0"/>
              <a:t> Dataset</a:t>
            </a:r>
            <a:br>
              <a:rPr lang="en-US" dirty="0"/>
            </a:br>
            <a:r>
              <a:rPr lang="en-US" b="1" dirty="0" smtClean="0"/>
              <a:t>Source:</a:t>
            </a:r>
            <a:r>
              <a:rPr lang="en-US" dirty="0" smtClean="0"/>
              <a:t> </a:t>
            </a:r>
            <a:r>
              <a:rPr lang="en-US" i="1" dirty="0"/>
              <a:t>Information (MDPI), 2022</a:t>
            </a:r>
            <a:endParaRPr lang="ar-EG" b="1" dirty="0"/>
          </a:p>
        </p:txBody>
      </p:sp>
      <p:sp>
        <p:nvSpPr>
          <p:cNvPr id="6" name="Rectangle 5"/>
          <p:cNvSpPr/>
          <p:nvPr/>
        </p:nvSpPr>
        <p:spPr>
          <a:xfrm>
            <a:off x="208284" y="3195620"/>
            <a:ext cx="557783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Methodology</a:t>
            </a:r>
            <a:r>
              <a:rPr lang="en-US" dirty="0"/>
              <a:t/>
            </a:r>
            <a:br>
              <a:rPr lang="en-US" dirty="0"/>
            </a:br>
            <a:r>
              <a:rPr lang="en-US" sz="1800" dirty="0"/>
              <a:t>Used </a:t>
            </a:r>
            <a:r>
              <a:rPr lang="en-US" sz="1800" b="1" dirty="0" err="1"/>
              <a:t>Fakeddit</a:t>
            </a:r>
            <a:r>
              <a:rPr lang="en-US" sz="1800" b="1" dirty="0"/>
              <a:t> multimodal dataset</a:t>
            </a:r>
            <a:r>
              <a:rPr lang="en-US" sz="1800" dirty="0"/>
              <a:t> (text + images).</a:t>
            </a:r>
          </a:p>
          <a:p>
            <a:r>
              <a:rPr lang="en-US" sz="1800" dirty="0"/>
              <a:t>Extracted text features using </a:t>
            </a:r>
            <a:r>
              <a:rPr lang="en-US" sz="1800" b="1" dirty="0"/>
              <a:t>BERT</a:t>
            </a:r>
            <a:r>
              <a:rPr lang="en-US" sz="1800" dirty="0"/>
              <a:t>.</a:t>
            </a:r>
          </a:p>
          <a:p>
            <a:r>
              <a:rPr lang="en-US" sz="1800" dirty="0"/>
              <a:t>Extracted image features using </a:t>
            </a:r>
            <a:r>
              <a:rPr lang="en-US" sz="1800" b="1" dirty="0"/>
              <a:t>CNN models</a:t>
            </a:r>
            <a:r>
              <a:rPr lang="en-US" sz="1800" dirty="0"/>
              <a:t>.</a:t>
            </a:r>
          </a:p>
          <a:p>
            <a:r>
              <a:rPr lang="en-US" sz="1800" dirty="0"/>
              <a:t>Combined features using </a:t>
            </a:r>
            <a:r>
              <a:rPr lang="en-US" sz="1800" b="1" dirty="0"/>
              <a:t>feature fusion layer</a:t>
            </a:r>
            <a:r>
              <a:rPr lang="en-US" sz="1800" dirty="0"/>
              <a:t>.</a:t>
            </a:r>
          </a:p>
          <a:p>
            <a:r>
              <a:rPr lang="en-US" sz="1800" dirty="0"/>
              <a:t>Performed classification into </a:t>
            </a:r>
            <a:r>
              <a:rPr lang="en-US" sz="1800" b="1" dirty="0"/>
              <a:t>2-way, 3-way, and 6-way labels</a:t>
            </a:r>
            <a:r>
              <a:rPr lang="en-US" sz="18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86122" y="3233249"/>
            <a:ext cx="55829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 smtClean="0"/>
              <a:t>Results</a:t>
            </a:r>
            <a:endParaRPr lang="en-US" sz="1800" b="1" dirty="0"/>
          </a:p>
          <a:p>
            <a:r>
              <a:rPr lang="en-US" sz="1800" dirty="0"/>
              <a:t>Text-only models ≈ 74–78% accuracy.</a:t>
            </a:r>
          </a:p>
          <a:p>
            <a:r>
              <a:rPr lang="en-US" sz="1800" dirty="0"/>
              <a:t>Multimodal model ≈ </a:t>
            </a:r>
            <a:r>
              <a:rPr lang="en-US" sz="1800" b="1" dirty="0"/>
              <a:t>87% accuracy</a:t>
            </a:r>
            <a:r>
              <a:rPr lang="en-US" sz="1800" dirty="0"/>
              <a:t>.</a:t>
            </a:r>
          </a:p>
          <a:p>
            <a:r>
              <a:rPr lang="en-US" sz="1800" dirty="0"/>
              <a:t>Multimodal outperformed </a:t>
            </a:r>
            <a:r>
              <a:rPr lang="en-US" sz="1800" dirty="0" err="1"/>
              <a:t>unimodal</a:t>
            </a:r>
            <a:r>
              <a:rPr lang="en-US" sz="1800" dirty="0"/>
              <a:t> approaches significantly.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337" y="5391244"/>
            <a:ext cx="620268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• </a:t>
            </a:r>
            <a:r>
              <a:rPr lang="en-US" sz="1800" b="1" dirty="0"/>
              <a:t>Research </a:t>
            </a:r>
            <a:r>
              <a:rPr lang="en-US" sz="1800" b="1" dirty="0" smtClean="0"/>
              <a:t>Gap</a:t>
            </a:r>
            <a:endParaRPr lang="en-US" sz="1800" b="1" dirty="0"/>
          </a:p>
          <a:p>
            <a:r>
              <a:rPr lang="en-US" sz="1800" dirty="0"/>
              <a:t>Many works rely only on text.</a:t>
            </a:r>
          </a:p>
          <a:p>
            <a:r>
              <a:rPr lang="en-US" sz="1800" dirty="0"/>
              <a:t>Limited research on </a:t>
            </a:r>
            <a:r>
              <a:rPr lang="en-US" sz="1800" b="1" dirty="0"/>
              <a:t>fine-grained fake news categories</a:t>
            </a:r>
            <a:r>
              <a:rPr lang="en-US" sz="1800" dirty="0" smtClean="0"/>
              <a:t>.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Model  can’t explain why a news item is fake or real</a:t>
            </a:r>
            <a:r>
              <a:rPr lang="en-US" dirty="0"/>
              <a:t>.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0971750" y="450894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Ref</a:t>
            </a:r>
            <a:r>
              <a:rPr lang="en-US" dirty="0" smtClean="0"/>
              <a:t>.[9]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90273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365125"/>
            <a:ext cx="9372601" cy="89979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Literature Review – Paper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ar-EG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976547"/>
            <a:ext cx="11394442" cy="10559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 smtClean="0"/>
              <a:t>   Title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Fake News Detection: An Image-Based Semi-Automated Method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</a:t>
            </a:r>
            <a:r>
              <a:rPr lang="en-US" b="1" dirty="0" smtClean="0"/>
              <a:t>Source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AIP Conference Proceedings</a:t>
            </a:r>
            <a:r>
              <a:rPr lang="en-US" dirty="0"/>
              <a:t>, Vol. 2461, 020012, 2022</a:t>
            </a:r>
          </a:p>
          <a:p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182879" y="2955344"/>
            <a:ext cx="553212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Methodology</a:t>
            </a:r>
            <a:endParaRPr lang="en-US" sz="1800" dirty="0"/>
          </a:p>
          <a:p>
            <a:r>
              <a:rPr lang="en-US" sz="1600" dirty="0"/>
              <a:t>Collected suspicious images using web crawling (Bing Search API).</a:t>
            </a:r>
          </a:p>
          <a:p>
            <a:r>
              <a:rPr lang="en-US" sz="1600" dirty="0"/>
              <a:t>Extracted statistical image features (mean, median, standard deviation for RGB).</a:t>
            </a:r>
          </a:p>
          <a:p>
            <a:r>
              <a:rPr lang="en-US" sz="1600" dirty="0"/>
              <a:t>Calculated similarity between images using Euclidean Distance.</a:t>
            </a:r>
          </a:p>
          <a:p>
            <a:r>
              <a:rPr lang="en-US" sz="1600" dirty="0"/>
              <a:t>Recommended the most relevant news sources to verify image authenticity</a:t>
            </a:r>
            <a:r>
              <a:rPr lang="en-US" sz="18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968662"/>
            <a:ext cx="47853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</a:t>
            </a:r>
            <a:r>
              <a:rPr lang="en-US" sz="2000" b="1" dirty="0"/>
              <a:t>Results</a:t>
            </a:r>
            <a:endParaRPr lang="en-US" dirty="0"/>
          </a:p>
          <a:p>
            <a:r>
              <a:rPr lang="en-US" sz="1600" dirty="0"/>
              <a:t>Successfully identified false or misleading images in most cases.</a:t>
            </a:r>
          </a:p>
          <a:p>
            <a:r>
              <a:rPr lang="en-US" sz="1600" dirty="0"/>
              <a:t>Helped users verify fake images during the COVID-19 pandemic.</a:t>
            </a:r>
          </a:p>
          <a:p>
            <a:r>
              <a:rPr lang="en-US" sz="1600" dirty="0"/>
              <a:t>Tested on 4 image samples only — limited but promising.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0410" y="5177764"/>
            <a:ext cx="563880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•  </a:t>
            </a:r>
            <a:r>
              <a:rPr lang="en-US" sz="1800" b="1" dirty="0"/>
              <a:t>Research Gap</a:t>
            </a:r>
            <a:endParaRPr lang="en-US" sz="1800" dirty="0"/>
          </a:p>
          <a:p>
            <a:r>
              <a:rPr lang="en-US" sz="1600" dirty="0"/>
              <a:t>Relies only on images — no text or multimodal data.</a:t>
            </a:r>
          </a:p>
          <a:p>
            <a:r>
              <a:rPr lang="en-US" sz="1600" dirty="0"/>
              <a:t>Semi-automated, requires human review.</a:t>
            </a:r>
          </a:p>
          <a:p>
            <a:r>
              <a:rPr lang="en-US" sz="1600" dirty="0"/>
              <a:t>Small dataset and no quantitative accuracy metrics.</a:t>
            </a:r>
          </a:p>
          <a:p>
            <a:r>
              <a:rPr lang="en-US" sz="1600" dirty="0"/>
              <a:t>Uses basic statistical features, not deep learning or CNN-based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2628" y="385938"/>
            <a:ext cx="712054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Ref.[6]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51854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Dataset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2037806"/>
            <a:ext cx="11394442" cy="461237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i="1" dirty="0"/>
              <a:t> </a:t>
            </a:r>
            <a:r>
              <a:rPr lang="en-US" sz="2400" dirty="0"/>
              <a:t>In this work, we used the </a:t>
            </a:r>
            <a:r>
              <a:rPr lang="en-US" sz="2400" dirty="0" err="1"/>
              <a:t>Fakeddit</a:t>
            </a:r>
            <a:r>
              <a:rPr lang="en-US" sz="2400" dirty="0"/>
              <a:t> dataset.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i="1" dirty="0"/>
              <a:t> </a:t>
            </a:r>
            <a:r>
              <a:rPr lang="en-US" sz="2400" dirty="0"/>
              <a:t>It contains 1 million multimodal fake news samples.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i="1" dirty="0"/>
              <a:t> </a:t>
            </a:r>
            <a:r>
              <a:rPr lang="en-US" sz="2400" dirty="0"/>
              <a:t>Each sample includes text, images, and metadata.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i="1" dirty="0"/>
              <a:t> </a:t>
            </a:r>
            <a:r>
              <a:rPr lang="en-US" sz="2400" dirty="0"/>
              <a:t>The data was collected from Reedit between March 2008 and October 2019.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•</a:t>
            </a:r>
            <a:r>
              <a:rPr lang="en-US" sz="2400" i="1" dirty="0"/>
              <a:t> </a:t>
            </a:r>
            <a:r>
              <a:rPr lang="en-US" sz="2400" dirty="0"/>
              <a:t>This dataset provides a realistic and diverse foundation for multimodal fake news    detection.</a:t>
            </a:r>
          </a:p>
          <a:p>
            <a:pPr marL="114300" indent="0">
              <a:buNone/>
            </a:pPr>
            <a:endParaRPr lang="en-US" sz="2400" dirty="0"/>
          </a:p>
          <a:p>
            <a:endParaRPr lang="ar-EG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909915" y="335280"/>
            <a:ext cx="712054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Ref.[5]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42181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779" y="0"/>
            <a:ext cx="11394442" cy="132556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         System Architecture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pic>
        <p:nvPicPr>
          <p:cNvPr id="2050" name="Picture 2" descr="D:\Desktop\ssssss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1722"/>
            <a:ext cx="12191999" cy="570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esktop\ree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7549"/>
            <a:ext cx="12191999" cy="592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06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79" y="0"/>
            <a:ext cx="11394442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           Model Architecture 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04280"/>
            <a:ext cx="11394442" cy="4564353"/>
          </a:xfrm>
        </p:spPr>
        <p:txBody>
          <a:bodyPr/>
          <a:lstStyle/>
          <a:p>
            <a:pPr marL="114300" indent="0">
              <a:buNone/>
            </a:pPr>
            <a:endParaRPr lang="ar-EG" dirty="0"/>
          </a:p>
        </p:txBody>
      </p:sp>
      <p:pic>
        <p:nvPicPr>
          <p:cNvPr id="1027" name="Picture 3" descr="D:\Desktop\Untitled s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02827"/>
            <a:ext cx="12192000" cy="589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3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2359" y="0"/>
            <a:ext cx="11394442" cy="185832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Sequence Diagram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2050" name="Picture 2" descr="D:\Desktop\seq di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040"/>
            <a:ext cx="12080451" cy="577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:\Desktop\sequanc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040"/>
            <a:ext cx="12192000" cy="577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7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59" y="-198119"/>
            <a:ext cx="11394442" cy="169068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Class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Diagram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074" name="Picture 2" descr="D:\Desktop\class di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76" y="1458820"/>
            <a:ext cx="8758518" cy="439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Downloads\uml_rss_service_updat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7859"/>
            <a:ext cx="12192000" cy="606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4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239" y="-45720"/>
            <a:ext cx="11394442" cy="158400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Use case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Diagram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098" name="Picture 2" descr="D:\Desktop\use case di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3920"/>
            <a:ext cx="12192000" cy="604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esktop\use case di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1040"/>
            <a:ext cx="12191999" cy="622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95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Model Overview</a:t>
            </a:r>
            <a:endParaRPr lang="ar-E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>
                <a:solidFill>
                  <a:schemeClr val="accent6"/>
                </a:solidFill>
              </a:rPr>
              <a:t>• </a:t>
            </a:r>
            <a:r>
              <a:rPr lang="en-US" b="1" dirty="0" smtClean="0"/>
              <a:t>Preprocessing and cleaning</a:t>
            </a:r>
          </a:p>
          <a:p>
            <a:pPr marL="114300" indent="0">
              <a:buNone/>
            </a:pPr>
            <a:endParaRPr lang="en-US" b="1" dirty="0" smtClean="0"/>
          </a:p>
          <a:p>
            <a:pPr marL="114300" indent="0">
              <a:buNone/>
            </a:pPr>
            <a:endParaRPr lang="en-US" b="1" dirty="0" smtClean="0">
              <a:solidFill>
                <a:schemeClr val="accent6"/>
              </a:solidFill>
            </a:endParaRPr>
          </a:p>
          <a:p>
            <a:pPr marL="114300" indent="0">
              <a:buNone/>
            </a:pPr>
            <a:r>
              <a:rPr lang="en-US" b="1" dirty="0" smtClean="0">
                <a:solidFill>
                  <a:schemeClr val="accent6"/>
                </a:solidFill>
              </a:rPr>
              <a:t>•</a:t>
            </a:r>
            <a:r>
              <a:rPr lang="en-US" dirty="0"/>
              <a:t> </a:t>
            </a:r>
            <a:r>
              <a:rPr lang="en-US" b="1" dirty="0"/>
              <a:t>Training </a:t>
            </a:r>
            <a:r>
              <a:rPr lang="en-US" b="1" dirty="0" smtClean="0"/>
              <a:t>Strategy</a:t>
            </a:r>
          </a:p>
          <a:p>
            <a:pPr marL="114300" indent="0">
              <a:buNone/>
            </a:pPr>
            <a:endParaRPr lang="en-US" b="1" dirty="0" smtClean="0">
              <a:solidFill>
                <a:schemeClr val="accent6"/>
              </a:solidFill>
            </a:endParaRPr>
          </a:p>
          <a:p>
            <a:pPr marL="114300" indent="0">
              <a:buNone/>
            </a:pPr>
            <a:endParaRPr lang="en-US" b="1" dirty="0" smtClean="0">
              <a:solidFill>
                <a:schemeClr val="accent6"/>
              </a:solidFill>
            </a:endParaRPr>
          </a:p>
          <a:p>
            <a:pPr marL="114300" indent="0">
              <a:buNone/>
            </a:pPr>
            <a:r>
              <a:rPr lang="en-US" b="1" dirty="0" smtClean="0">
                <a:solidFill>
                  <a:schemeClr val="accent6"/>
                </a:solidFill>
              </a:rPr>
              <a:t>•</a:t>
            </a:r>
            <a:r>
              <a:rPr lang="en-US" dirty="0"/>
              <a:t> </a:t>
            </a:r>
            <a:r>
              <a:rPr lang="en-US" b="1" dirty="0"/>
              <a:t>Evaluation Metrics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187189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Preprocessing and cleaning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Removed samples with missing or broken image URLs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 smtClean="0"/>
          </a:p>
          <a:p>
            <a:r>
              <a:rPr lang="en-US" dirty="0"/>
              <a:t>Downloaded images and saved them using their unique IDs for consistency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Deleted invalid rows where images failed to load or were corrupted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Resize &amp; normalize </a:t>
            </a:r>
            <a:r>
              <a:rPr lang="en-US" dirty="0" smtClean="0"/>
              <a:t>images</a:t>
            </a:r>
            <a:endParaRPr lang="ar-EG" dirty="0"/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67711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Sample pictures  </a:t>
            </a:r>
            <a:endParaRPr lang="ar-E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pic>
        <p:nvPicPr>
          <p:cNvPr id="2050" name="Picture 2" descr="D:\Desktop\immm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9439"/>
            <a:ext cx="12192000" cy="496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92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 indent="0"/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Training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a multimodal architecture combining </a:t>
            </a:r>
            <a:r>
              <a:rPr lang="en-US" b="1" dirty="0"/>
              <a:t>BERT (text)</a:t>
            </a:r>
            <a:r>
              <a:rPr lang="en-US" dirty="0"/>
              <a:t> and </a:t>
            </a:r>
            <a:r>
              <a:rPr lang="en-US" b="1" dirty="0"/>
              <a:t>ResNet-50 (image</a:t>
            </a:r>
            <a:r>
              <a:rPr lang="en-US" b="1" dirty="0" smtClean="0"/>
              <a:t>)</a:t>
            </a:r>
            <a:endParaRPr lang="en-US" b="1" dirty="0"/>
          </a:p>
          <a:p>
            <a:pPr marL="114300" indent="0">
              <a:buNone/>
            </a:pPr>
            <a:r>
              <a:rPr lang="en-US" dirty="0" smtClean="0"/>
              <a:t>                                </a:t>
            </a:r>
            <a:r>
              <a:rPr lang="en-US" b="1" dirty="0" smtClean="0"/>
              <a:t>Applied </a:t>
            </a:r>
            <a:r>
              <a:rPr lang="en-US" b="1" dirty="0"/>
              <a:t>a two-phase training </a:t>
            </a:r>
            <a:r>
              <a:rPr lang="en-US" b="1" dirty="0" smtClean="0"/>
              <a:t>strategy</a:t>
            </a:r>
          </a:p>
          <a:p>
            <a:pPr marL="114300" indent="0">
              <a:buNone/>
            </a:pPr>
            <a:r>
              <a:rPr lang="en-US" b="1" dirty="0" smtClean="0"/>
              <a:t>Phase </a:t>
            </a:r>
            <a:r>
              <a:rPr lang="en-US" b="1" dirty="0"/>
              <a:t>1:</a:t>
            </a:r>
            <a:r>
              <a:rPr lang="en-US" dirty="0"/>
              <a:t> Freeze backbone models and train only the classifier </a:t>
            </a:r>
            <a:r>
              <a:rPr lang="en-US" dirty="0" smtClean="0"/>
              <a:t>layers </a:t>
            </a:r>
          </a:p>
          <a:p>
            <a:pPr marL="114300" indent="0">
              <a:buNone/>
            </a:pPr>
            <a:r>
              <a:rPr lang="en-US" b="1" dirty="0"/>
              <a:t>Phase 2:</a:t>
            </a:r>
            <a:r>
              <a:rPr lang="en-US" dirty="0"/>
              <a:t> Fine-tune selected layers of BERT and </a:t>
            </a:r>
            <a:r>
              <a:rPr lang="en-US" dirty="0" err="1"/>
              <a:t>ResNet</a:t>
            </a:r>
            <a:r>
              <a:rPr lang="en-US" dirty="0"/>
              <a:t> with a lower learning rate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r>
              <a:rPr lang="en-US" sz="4800" dirty="0" smtClean="0"/>
              <a:t>.</a:t>
            </a:r>
            <a:r>
              <a:rPr lang="en-US" dirty="0" smtClean="0"/>
              <a:t> Trained </a:t>
            </a:r>
            <a:r>
              <a:rPr lang="en-US" dirty="0"/>
              <a:t>on a </a:t>
            </a:r>
            <a:r>
              <a:rPr lang="en-US" b="1" dirty="0"/>
              <a:t>5% dataset subset</a:t>
            </a:r>
            <a:r>
              <a:rPr lang="en-US" dirty="0"/>
              <a:t> to reduce training time during experimentation.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33576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Evaluation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Metrics</a:t>
            </a:r>
            <a:endParaRPr lang="ar-E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pic>
        <p:nvPicPr>
          <p:cNvPr id="3074" name="Picture 2" descr="D:\Desktop\aaaaaaaaaaaaaaaaaaaaaaaaa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0641"/>
            <a:ext cx="12192000" cy="507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2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&amp; Architecture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Service </a:t>
            </a:r>
            <a:r>
              <a:rPr lang="en-US" b="1" dirty="0" smtClean="0"/>
              <a:t>Pattern</a:t>
            </a:r>
          </a:p>
          <a:p>
            <a:r>
              <a:rPr lang="en-US" sz="2200" dirty="0"/>
              <a:t>Separates business logic from </a:t>
            </a:r>
            <a:r>
              <a:rPr lang="en-US" sz="2200" dirty="0" smtClean="0"/>
              <a:t>controllers</a:t>
            </a:r>
          </a:p>
          <a:p>
            <a:r>
              <a:rPr lang="en-US" sz="2200" dirty="0" smtClean="0"/>
              <a:t> </a:t>
            </a:r>
            <a:r>
              <a:rPr lang="en-US" sz="2200" dirty="0"/>
              <a:t>Improves code organization and maintainability Implemented through </a:t>
            </a:r>
            <a:r>
              <a:rPr lang="en-US" sz="2200" dirty="0" smtClean="0"/>
              <a:t> services such as: </a:t>
            </a:r>
            <a:r>
              <a:rPr lang="en-US" sz="2200" dirty="0" err="1" smtClean="0"/>
              <a:t>AuthService</a:t>
            </a:r>
            <a:r>
              <a:rPr lang="en-US" sz="2200" dirty="0" smtClean="0"/>
              <a:t> </a:t>
            </a:r>
            <a:endParaRPr lang="en-US" sz="2200" dirty="0"/>
          </a:p>
          <a:p>
            <a:r>
              <a:rPr lang="en-US" sz="2200" dirty="0" err="1"/>
              <a:t>DetectionService</a:t>
            </a:r>
            <a:r>
              <a:rPr lang="en-US" sz="2200" dirty="0"/>
              <a:t> </a:t>
            </a:r>
          </a:p>
          <a:p>
            <a:r>
              <a:rPr lang="en-US" sz="2200" dirty="0" err="1" smtClean="0"/>
              <a:t>AdminService</a:t>
            </a:r>
            <a:endParaRPr lang="en-US" sz="2200" dirty="0" smtClean="0"/>
          </a:p>
          <a:p>
            <a:r>
              <a:rPr lang="en-US" b="1" dirty="0"/>
              <a:t>Layered Architecture</a:t>
            </a:r>
          </a:p>
          <a:p>
            <a:r>
              <a:rPr lang="en-US" sz="2200" dirty="0"/>
              <a:t>Organizes the system into independent layers: </a:t>
            </a:r>
          </a:p>
          <a:p>
            <a:pPr lvl="1"/>
            <a:r>
              <a:rPr lang="en-US" sz="2200" dirty="0"/>
              <a:t>Frontend Layer </a:t>
            </a:r>
          </a:p>
          <a:p>
            <a:pPr lvl="1"/>
            <a:r>
              <a:rPr lang="en-US" sz="2200" dirty="0"/>
              <a:t>Backend Layer </a:t>
            </a:r>
          </a:p>
          <a:p>
            <a:pPr lvl="1"/>
            <a:r>
              <a:rPr lang="en-US" sz="2200" dirty="0"/>
              <a:t>Database Layer </a:t>
            </a:r>
          </a:p>
          <a:p>
            <a:pPr lvl="1"/>
            <a:r>
              <a:rPr lang="en-US" sz="2200" dirty="0"/>
              <a:t>Model Layer </a:t>
            </a:r>
            <a:r>
              <a:rPr lang="en-US" sz="2200" dirty="0" smtClean="0"/>
              <a:t> </a:t>
            </a:r>
            <a:endParaRPr lang="en-US" sz="2200" dirty="0"/>
          </a:p>
          <a:p>
            <a:endParaRPr lang="en-US" sz="2400" dirty="0"/>
          </a:p>
          <a:p>
            <a:endParaRPr lang="ar-EG" b="1" dirty="0"/>
          </a:p>
        </p:txBody>
      </p:sp>
      <p:sp>
        <p:nvSpPr>
          <p:cNvPr id="5" name="Rectangle 4"/>
          <p:cNvSpPr/>
          <p:nvPr/>
        </p:nvSpPr>
        <p:spPr>
          <a:xfrm>
            <a:off x="6344816" y="4460263"/>
            <a:ext cx="6463004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 </a:t>
            </a:r>
            <a:r>
              <a:rPr lang="en-US" sz="2800" b="1" dirty="0" smtClean="0"/>
              <a:t>Benefits</a:t>
            </a:r>
            <a:endParaRPr lang="en-US" sz="28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Better code </a:t>
            </a:r>
            <a:r>
              <a:rPr lang="en-US" sz="2400" dirty="0" smtClean="0"/>
              <a:t>organization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 Easier </a:t>
            </a:r>
            <a:r>
              <a:rPr lang="en-US" sz="2400" dirty="0"/>
              <a:t>maintenance and </a:t>
            </a:r>
            <a:r>
              <a:rPr lang="en-US" sz="2400" dirty="0" smtClean="0"/>
              <a:t>development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Improved </a:t>
            </a:r>
            <a:r>
              <a:rPr lang="en-US" sz="2400" dirty="0" smtClean="0"/>
              <a:t>scalability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Flexible future model integration</a:t>
            </a:r>
          </a:p>
        </p:txBody>
      </p:sp>
    </p:spTree>
    <p:extLst>
      <p:ext uri="{BB962C8B-B14F-4D97-AF65-F5344CB8AC3E}">
        <p14:creationId xmlns:p14="http://schemas.microsoft.com/office/powerpoint/2010/main" val="223241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ar-EG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759" y="4135315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52661"/>
              </p:ext>
            </p:extLst>
          </p:nvPr>
        </p:nvGraphicFramePr>
        <p:xfrm>
          <a:off x="0" y="1857949"/>
          <a:ext cx="7561384" cy="5000051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90346"/>
                <a:gridCol w="1890346"/>
                <a:gridCol w="1890346"/>
                <a:gridCol w="1890346"/>
              </a:tblGrid>
              <a:tr h="561022">
                <a:tc>
                  <a:txBody>
                    <a:bodyPr/>
                    <a:lstStyle/>
                    <a:p>
                      <a:r>
                        <a:rPr lang="en-US" sz="1400" dirty="0"/>
                        <a:t>Test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Expected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Status</a:t>
                      </a:r>
                    </a:p>
                  </a:txBody>
                  <a:tcPr anchor="ctr"/>
                </a:tc>
              </a:tr>
              <a:tr h="953738">
                <a:tc>
                  <a:txBody>
                    <a:bodyPr/>
                    <a:lstStyle/>
                    <a:p>
                      <a:r>
                        <a:rPr lang="en-US" sz="1400"/>
                        <a:t>UT-01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User Registration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User input validated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843851">
                <a:tc>
                  <a:txBody>
                    <a:bodyPr/>
                    <a:lstStyle/>
                    <a:p>
                      <a:r>
                        <a:rPr lang="en-US" sz="1400"/>
                        <a:t>UT-02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Login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Valid credentials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843851">
                <a:tc>
                  <a:txBody>
                    <a:bodyPr/>
                    <a:lstStyle/>
                    <a:p>
                      <a:r>
                        <a:rPr lang="en-US" sz="1400"/>
                        <a:t>UT-03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JWT Token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Token generated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84385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UT-04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URL Validation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Valid URL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  <a:tr h="95373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UT-05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Prediction Result Formatting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Result displayed in correct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AutoShape 3" descr="blob:https://web.whatsapp.com/e6d1dc3e-ba2c-4a07-b8b0-a405c03d418d"/>
          <p:cNvSpPr>
            <a:spLocks noChangeAspect="1" noChangeArrowheads="1"/>
          </p:cNvSpPr>
          <p:nvPr/>
        </p:nvSpPr>
        <p:spPr bwMode="auto">
          <a:xfrm>
            <a:off x="11971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10" name="AutoShape 5" descr="blob:https://web.whatsapp.com/e6d1dc3e-ba2c-4a07-b8b0-a405c03d418d"/>
          <p:cNvSpPr>
            <a:spLocks noChangeAspect="1" noChangeArrowheads="1"/>
          </p:cNvSpPr>
          <p:nvPr/>
        </p:nvSpPr>
        <p:spPr bwMode="auto">
          <a:xfrm>
            <a:off x="12123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4102" name="Picture 6" descr="D:\Desktop\WhatsApp Image 2026-06-15 at 4.08.35 A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688" y="1886673"/>
            <a:ext cx="4600786" cy="232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D:\Desktop\WhatsApp Image 2026-06-15 at 4.08.35 A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09" y="4216399"/>
            <a:ext cx="4600786" cy="26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61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572458"/>
              </p:ext>
            </p:extLst>
          </p:nvPr>
        </p:nvGraphicFramePr>
        <p:xfrm>
          <a:off x="0" y="1863520"/>
          <a:ext cx="7430948" cy="49944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57737"/>
                <a:gridCol w="1857737"/>
                <a:gridCol w="1857737"/>
                <a:gridCol w="1857737"/>
              </a:tblGrid>
              <a:tr h="525735">
                <a:tc>
                  <a:txBody>
                    <a:bodyPr/>
                    <a:lstStyle/>
                    <a:p>
                      <a:r>
                        <a:rPr lang="en-US" sz="1400" dirty="0"/>
                        <a:t>Test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Expected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Status</a:t>
                      </a:r>
                    </a:p>
                  </a:txBody>
                  <a:tcPr anchor="ctr"/>
                </a:tc>
              </a:tr>
              <a:tr h="893749">
                <a:tc>
                  <a:txBody>
                    <a:bodyPr/>
                    <a:lstStyle/>
                    <a:p>
                      <a:r>
                        <a:rPr lang="en-US" sz="1400" dirty="0"/>
                        <a:t>IT-02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Login + JWT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User authenticated and token issued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893749">
                <a:tc>
                  <a:txBody>
                    <a:bodyPr/>
                    <a:lstStyle/>
                    <a:p>
                      <a:r>
                        <a:rPr lang="en-US" sz="1400" dirty="0"/>
                        <a:t>IT-04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Detection Module + History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New detection appears in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  <a:tr h="8937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IT-03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Admin Dashboard + User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User information loaded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  <a:tr h="8937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IT-04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Admin Dashboard + Detection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Detection records displayed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  <a:tr h="8937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IT-05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JWT + Protected Routes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Authorized access granted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1" name="Picture 1" descr="D:\Desktop\WhatsApp Image 2026-06-15 at 4.08.35 A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20" y="1747520"/>
            <a:ext cx="4754880" cy="241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:\Desktop\WhatsApp Image 2026-06-15 at 4.08.35 A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21" y="4348481"/>
            <a:ext cx="4754879" cy="25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17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ar-E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12040"/>
              </p:ext>
            </p:extLst>
          </p:nvPr>
        </p:nvGraphicFramePr>
        <p:xfrm>
          <a:off x="0" y="1860954"/>
          <a:ext cx="7349924" cy="499704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37481"/>
                <a:gridCol w="1837481"/>
                <a:gridCol w="1837481"/>
                <a:gridCol w="1837481"/>
              </a:tblGrid>
              <a:tr h="587888">
                <a:tc>
                  <a:txBody>
                    <a:bodyPr/>
                    <a:lstStyle/>
                    <a:p>
                      <a:r>
                        <a:rPr lang="en-US" sz="1400" dirty="0"/>
                        <a:t>Test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Expected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Status</a:t>
                      </a:r>
                    </a:p>
                  </a:txBody>
                  <a:tcPr anchor="ctr"/>
                </a:tc>
              </a:tr>
              <a:tr h="1410931">
                <a:tc>
                  <a:txBody>
                    <a:bodyPr/>
                    <a:lstStyle/>
                    <a:p>
                      <a:r>
                        <a:rPr lang="en-US" sz="1400"/>
                        <a:t>ST-01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Complete User Registration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Account created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999409">
                <a:tc>
                  <a:txBody>
                    <a:bodyPr/>
                    <a:lstStyle/>
                    <a:p>
                      <a:r>
                        <a:rPr lang="en-US" sz="1400"/>
                        <a:t>ST-02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Complete Login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User redirected to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999409">
                <a:tc>
                  <a:txBody>
                    <a:bodyPr/>
                    <a:lstStyle/>
                    <a:p>
                      <a:r>
                        <a:rPr lang="en-US" sz="1400"/>
                        <a:t>ST-03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Submit Text News for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Prediction displayed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</a:t>
                      </a:r>
                    </a:p>
                  </a:txBody>
                  <a:tcPr anchor="ctr"/>
                </a:tc>
              </a:tr>
              <a:tr h="999409">
                <a:tc>
                  <a:txBody>
                    <a:bodyPr/>
                    <a:lstStyle/>
                    <a:p>
                      <a:r>
                        <a:rPr lang="en-US" sz="1400"/>
                        <a:t>ST-04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Submit Image for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Prediction displayed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145" name="Picture 1" descr="D:\Desktop\WhatsApp Image 2026-06-15 at 4.08.36 A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839" y="1800920"/>
            <a:ext cx="4836161" cy="234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D:\Desktop\WhatsApp Image 2026-06-15 at 4.08.36 A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358" y="4043680"/>
            <a:ext cx="4866641" cy="28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45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Bugs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5642"/>
              </p:ext>
            </p:extLst>
          </p:nvPr>
        </p:nvGraphicFramePr>
        <p:xfrm>
          <a:off x="-1" y="1859280"/>
          <a:ext cx="12192000" cy="499871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290623">
                <a:tc>
                  <a:txBody>
                    <a:bodyPr/>
                    <a:lstStyle/>
                    <a:p>
                      <a:r>
                        <a:rPr lang="en-US" sz="1200"/>
                        <a:t>Bug ID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Area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Bug / Issue Found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Actual Result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Expected Result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Status</a:t>
                      </a:r>
                    </a:p>
                  </a:txBody>
                  <a:tcPr marL="79606" marR="79606" marT="39803" marB="39803" anchor="ctr"/>
                </a:tc>
              </a:tr>
              <a:tr h="1104368">
                <a:tc>
                  <a:txBody>
                    <a:bodyPr/>
                    <a:lstStyle/>
                    <a:p>
                      <a:r>
                        <a:rPr lang="en-US" sz="1200"/>
                        <a:t>BUG-01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Detection Statistics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Stats endpoint returns different/missing field names, causing count tests to fail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total, initial count, and fake count returned as undefined in Postman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Stats should return clear counts such as total detections, real count, and fake count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</a:t>
                      </a:r>
                    </a:p>
                  </a:txBody>
                  <a:tcPr marL="79606" marR="79606" marT="39803" marB="39803" anchor="ctr"/>
                </a:tc>
              </a:tr>
              <a:tr h="697496">
                <a:tc>
                  <a:txBody>
                    <a:bodyPr/>
                    <a:lstStyle/>
                    <a:p>
                      <a:r>
                        <a:rPr lang="en-US" sz="1200"/>
                        <a:t>BUG-02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Admin Authorization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 user can access admin stats endpoint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/api/admin/stats returned 200 OK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 user should get 403 Forbidden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</a:t>
                      </a:r>
                    </a:p>
                  </a:txBody>
                  <a:tcPr marL="79606" marR="79606" marT="39803" marB="39803" anchor="ctr"/>
                </a:tc>
              </a:tr>
              <a:tr h="900932">
                <a:tc>
                  <a:txBody>
                    <a:bodyPr/>
                    <a:lstStyle/>
                    <a:p>
                      <a:r>
                        <a:rPr lang="en-US" sz="1200"/>
                        <a:t>BUG-03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Detection Result Details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Saved detection result classification does not match the expected test result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Result returned Real while test expected Fake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Retrieved result should match the saved detection classification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</a:t>
                      </a:r>
                    </a:p>
                  </a:txBody>
                  <a:tcPr marL="79606" marR="79606" marT="39803" marB="39803" anchor="ctr"/>
                </a:tc>
              </a:tr>
              <a:tr h="900932">
                <a:tc>
                  <a:txBody>
                    <a:bodyPr/>
                    <a:lstStyle/>
                    <a:p>
                      <a:r>
                        <a:rPr lang="en-US" sz="1200"/>
                        <a:t>BUG-04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Images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Images in the TruthLens dashboard are not displayed correctly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Image area appears empty or broken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Uploaded/detected images should appear correctly in the dashboard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</a:t>
                      </a:r>
                    </a:p>
                  </a:txBody>
                  <a:tcPr marL="79606" marR="79606" marT="39803" marB="39803" anchor="ctr"/>
                </a:tc>
              </a:tr>
              <a:tr h="1104368">
                <a:tc>
                  <a:txBody>
                    <a:bodyPr/>
                    <a:lstStyle/>
                    <a:p>
                      <a:r>
                        <a:rPr lang="en-US" sz="1200"/>
                        <a:t>BUG-05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API Error Response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Some failed requests do not return a clear error message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Error message returned as undefined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Backend should return a clear error message for failed/unauthorized requests</a:t>
                      </a:r>
                    </a:p>
                  </a:txBody>
                  <a:tcPr marL="79606" marR="79606" marT="39803" marB="39803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Open</a:t>
                      </a:r>
                    </a:p>
                  </a:txBody>
                  <a:tcPr marL="79606" marR="79606" marT="39803" marB="3980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525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Challenges</a:t>
            </a:r>
            <a:endParaRPr lang="ar-E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4368801" y="7261225"/>
            <a:ext cx="5654042" cy="4351338"/>
          </a:xfrm>
        </p:spPr>
        <p:txBody>
          <a:bodyPr/>
          <a:lstStyle/>
          <a:p>
            <a:endParaRPr lang="ar-EG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65125" y="35575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41338"/>
              </p:ext>
            </p:extLst>
          </p:nvPr>
        </p:nvGraphicFramePr>
        <p:xfrm>
          <a:off x="0" y="1518298"/>
          <a:ext cx="12192000" cy="533970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096000"/>
                <a:gridCol w="6096000"/>
              </a:tblGrid>
              <a:tr h="333867">
                <a:tc>
                  <a:txBody>
                    <a:bodyPr/>
                    <a:lstStyle/>
                    <a:p>
                      <a:r>
                        <a:rPr lang="en-US" sz="1100" dirty="0"/>
                        <a:t>Challenge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Explanation</a:t>
                      </a:r>
                    </a:p>
                  </a:txBody>
                  <a:tcPr marL="69503" marR="69503" marT="34752" marB="34752" anchor="ctr"/>
                </a:tc>
              </a:tr>
              <a:tr h="569884">
                <a:tc>
                  <a:txBody>
                    <a:bodyPr/>
                    <a:lstStyle/>
                    <a:p>
                      <a:r>
                        <a:rPr lang="en-US" sz="1100"/>
                        <a:t>AI Model Integration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Connecting the trained AI model with the website instead of using random or placeholder results.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Multiple Services Communication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Making React, NestJS API Gateway, FastAPI AI service, and MongoDB work together correctly.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API Endpoint Errors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Fixing errors such as 404 Not Found, 400 Bad Request, and wrong endpoint paths.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File Upload Issues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Handling image, </a:t>
                      </a:r>
                      <a:r>
                        <a:rPr lang="en-US" sz="1100" dirty="0" smtClean="0"/>
                        <a:t> </a:t>
                      </a:r>
                      <a:r>
                        <a:rPr lang="en-US" sz="1100" dirty="0"/>
                        <a:t>and text uploads correctly using form-data.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Unexpected Field Error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Matching the frontend/Postman file key with the backend FileInterceptor field name.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JWT Authentication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Testing protected endpoints using Authorization: Bearer &lt;token&gt; in Postman.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/>
                        <a:t>Detection History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Saving detection results in MongoDB and displaying them correctly on the website.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 dirty="0"/>
                        <a:t>Port Conflicts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Solving backend port errors such as EADDRINUSE when a port was already in use.</a:t>
                      </a:r>
                    </a:p>
                  </a:txBody>
                  <a:tcPr marL="69503" marR="69503" marT="34752" marB="34752" anchor="ctr"/>
                </a:tc>
              </a:tr>
              <a:tr h="554494">
                <a:tc>
                  <a:txBody>
                    <a:bodyPr/>
                    <a:lstStyle/>
                    <a:p>
                      <a:r>
                        <a:rPr lang="en-US" sz="1100" dirty="0"/>
                        <a:t>Full System Testing</a:t>
                      </a:r>
                    </a:p>
                  </a:txBody>
                  <a:tcPr marL="69503" marR="69503" marT="34752" marB="34752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Testing the complete flow: login → detect → save history → view history.</a:t>
                      </a:r>
                    </a:p>
                  </a:txBody>
                  <a:tcPr marL="69503" marR="69503" marT="34752" marB="34752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225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79" y="580670"/>
            <a:ext cx="11394442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Requirements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05" y="2037805"/>
            <a:ext cx="13177716" cy="582948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•</a:t>
            </a:r>
            <a:r>
              <a:rPr lang="en-US" b="1" dirty="0"/>
              <a:t> Hardware Requirements</a:t>
            </a:r>
          </a:p>
          <a:p>
            <a:pPr marL="114300" indent="0">
              <a:buNone/>
            </a:pPr>
            <a:r>
              <a:rPr lang="en-US" dirty="0"/>
              <a:t>   </a:t>
            </a:r>
            <a:r>
              <a:rPr lang="en-US" sz="2400" dirty="0"/>
              <a:t>No special hardware components are required for this project.</a:t>
            </a:r>
          </a:p>
          <a:p>
            <a:pPr marL="114300" indent="0">
              <a:buNone/>
            </a:pPr>
            <a:r>
              <a:rPr lang="en-US" sz="2400" dirty="0"/>
              <a:t>   The system is entirely software-based and can run on any standard computer.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•</a:t>
            </a:r>
            <a:r>
              <a:rPr lang="en-US" b="1" dirty="0"/>
              <a:t> Software Requirements</a:t>
            </a:r>
          </a:p>
          <a:p>
            <a:pPr marL="114300" indent="0">
              <a:buNone/>
            </a:pPr>
            <a:r>
              <a:rPr lang="en-US" sz="2400" b="1" dirty="0"/>
              <a:t>            -Programming Language:</a:t>
            </a:r>
            <a:r>
              <a:rPr lang="en-US" sz="2400" dirty="0"/>
              <a:t> </a:t>
            </a:r>
            <a:r>
              <a:rPr lang="en-US" sz="2400" dirty="0" smtClean="0"/>
              <a:t>Python</a:t>
            </a:r>
            <a:endParaRPr lang="en-US" sz="2400" dirty="0"/>
          </a:p>
          <a:p>
            <a:pPr marL="114300" indent="0">
              <a:buNone/>
            </a:pPr>
            <a:r>
              <a:rPr lang="en-US" sz="2400" b="1" dirty="0"/>
              <a:t>            -Framework:</a:t>
            </a:r>
            <a:r>
              <a:rPr lang="en-US" sz="2400" dirty="0"/>
              <a:t> </a:t>
            </a:r>
            <a:r>
              <a:rPr lang="en-US" sz="2400" dirty="0" err="1" smtClean="0"/>
              <a:t>PyTorch</a:t>
            </a:r>
            <a:r>
              <a:rPr lang="en-US" sz="2400" dirty="0" smtClean="0"/>
              <a:t> or </a:t>
            </a:r>
            <a:r>
              <a:rPr lang="en-US" sz="2400" dirty="0" err="1"/>
              <a:t>TensorFlow</a:t>
            </a:r>
            <a:r>
              <a:rPr lang="en-US" sz="2400" dirty="0" smtClean="0"/>
              <a:t> </a:t>
            </a:r>
            <a:r>
              <a:rPr lang="en-US" sz="2400" dirty="0"/>
              <a:t>(for building and training deep learning models</a:t>
            </a:r>
            <a:r>
              <a:rPr lang="en-US" sz="2400" dirty="0" smtClean="0"/>
              <a:t>)</a:t>
            </a:r>
            <a:endParaRPr lang="en-US" sz="2400" dirty="0"/>
          </a:p>
          <a:p>
            <a:pPr marL="114300" indent="0">
              <a:buNone/>
            </a:pPr>
            <a:r>
              <a:rPr lang="en-US" sz="2400" b="1" dirty="0"/>
              <a:t>            -Database:</a:t>
            </a:r>
            <a:r>
              <a:rPr lang="en-US" sz="2400" dirty="0"/>
              <a:t> MongoDB (for storing and </a:t>
            </a:r>
            <a:r>
              <a:rPr lang="en-US" sz="2400" dirty="0" smtClean="0"/>
              <a:t>managing </a:t>
            </a:r>
            <a:r>
              <a:rPr lang="en-US" sz="2400" dirty="0"/>
              <a:t>news data and model outputs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530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Future work </a:t>
            </a:r>
            <a:endParaRPr lang="ar-E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2037805"/>
            <a:ext cx="6309361" cy="456435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Train </a:t>
            </a:r>
            <a:r>
              <a:rPr lang="en-US" dirty="0"/>
              <a:t>the model on the full dataset to improve performance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Improve generalization using external fake news datasets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Enhance multimodal fusion techniques for better accuracy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Develop the dashboard using </a:t>
            </a:r>
            <a:r>
              <a:rPr lang="en-US" dirty="0" err="1" smtClean="0"/>
              <a:t>Rss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endParaRPr lang="ar-EG" dirty="0"/>
          </a:p>
        </p:txBody>
      </p:sp>
      <p:sp>
        <p:nvSpPr>
          <p:cNvPr id="5" name="Rectangle 4"/>
          <p:cNvSpPr/>
          <p:nvPr/>
        </p:nvSpPr>
        <p:spPr>
          <a:xfrm>
            <a:off x="6859544" y="1905000"/>
            <a:ext cx="57591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200" dirty="0"/>
          </a:p>
          <a:p>
            <a:endParaRPr lang="en-US" sz="2200" dirty="0" smtClean="0"/>
          </a:p>
          <a:p>
            <a:endParaRPr lang="ar-EG" sz="2200" dirty="0"/>
          </a:p>
        </p:txBody>
      </p:sp>
      <p:pic>
        <p:nvPicPr>
          <p:cNvPr id="6147" name="Picture 3" descr="Future Work Icons - Free SVG &amp; PNG Future Work Images - Nou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152" y="2458998"/>
            <a:ext cx="2694168" cy="269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086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19A2D5-200A-B379-4C91-3AD0E9AA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2321"/>
            <a:ext cx="6873825" cy="8448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Project Time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897CA3-55E6-533B-4722-5184BA875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11762" y="1757706"/>
            <a:ext cx="11076710" cy="723868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55910"/>
              </p:ext>
            </p:extLst>
          </p:nvPr>
        </p:nvGraphicFramePr>
        <p:xfrm>
          <a:off x="0" y="1828802"/>
          <a:ext cx="12192000" cy="50291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412229">
                <a:tc>
                  <a:txBody>
                    <a:bodyPr/>
                    <a:lstStyle/>
                    <a:p>
                      <a:r>
                        <a:rPr lang="en-US" sz="1400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Key Milestone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/>
                        <a:t>Phase 3 – Model Improvement &amp;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Feb – 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Fine-tune multimodal model and improve generalization.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/>
                        <a:t>Phase 4 – External Data &amp; Robustness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Add external datasets and handle real-world inputs.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 dirty="0"/>
                        <a:t>Phase 5 – Dashboard &amp; </a:t>
                      </a:r>
                      <a:r>
                        <a:rPr lang="en-US" sz="1400" dirty="0" err="1" smtClean="0"/>
                        <a:t>Rss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 – 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Implement fake news trends dashboard.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/>
                        <a:t>Phase 6 – 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Connect model with backend APIs.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/>
                        <a:t>Phase 7 – 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Apr – 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Performance testing and bug fixing.</a:t>
                      </a:r>
                    </a:p>
                  </a:txBody>
                  <a:tcPr anchor="ctr"/>
                </a:tc>
              </a:tr>
              <a:tr h="412229">
                <a:tc>
                  <a:txBody>
                    <a:bodyPr/>
                    <a:lstStyle/>
                    <a:p>
                      <a:r>
                        <a:rPr lang="en-US" sz="1400"/>
                        <a:t>Phase 8 –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Deploy system and model.</a:t>
                      </a:r>
                    </a:p>
                  </a:txBody>
                  <a:tcPr anchor="ctr"/>
                </a:tc>
              </a:tr>
              <a:tr h="700790">
                <a:tc>
                  <a:txBody>
                    <a:bodyPr/>
                    <a:lstStyle/>
                    <a:p>
                      <a:r>
                        <a:rPr lang="en-US" sz="1400"/>
                        <a:t>Phase 9 – Documentation &amp; Final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May – 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 sz="140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report and graduation presentation.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65125" y="2460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46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112BB26A-3706-1707-5952-7499CCE31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 rot="10800000" flipH="1" flipV="1">
            <a:off x="-193963" y="724992"/>
            <a:ext cx="10972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Work Division &amp; Responsibilities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6B3B8D8F-B3AF-F2E0-4521-EDD41B1A4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00502"/>
              </p:ext>
            </p:extLst>
          </p:nvPr>
        </p:nvGraphicFramePr>
        <p:xfrm>
          <a:off x="33051" y="2006115"/>
          <a:ext cx="12173638" cy="4652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4653">
                  <a:extLst>
                    <a:ext uri="{9D8B030D-6E8A-4147-A177-3AD203B41FA5}">
                      <a16:colId xmlns:a16="http://schemas.microsoft.com/office/drawing/2014/main" xmlns="" val="4166719023"/>
                    </a:ext>
                  </a:extLst>
                </a:gridCol>
                <a:gridCol w="5938985">
                  <a:extLst>
                    <a:ext uri="{9D8B030D-6E8A-4147-A177-3AD203B41FA5}">
                      <a16:colId xmlns:a16="http://schemas.microsoft.com/office/drawing/2014/main" xmlns="" val="3509378579"/>
                    </a:ext>
                  </a:extLst>
                </a:gridCol>
              </a:tblGrid>
              <a:tr h="5438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Member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Key Contributions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3563968"/>
                  </a:ext>
                </a:extLst>
              </a:tr>
              <a:tr h="16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Omar Aly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Designed website interface and backend. 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 Linked </a:t>
                      </a:r>
                      <a:r>
                        <a:rPr lang="en-US" dirty="0" smtClean="0"/>
                        <a:t>model </a:t>
                      </a:r>
                      <a:r>
                        <a:rPr lang="en-US" dirty="0"/>
                        <a:t>with website. 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Handled database and documentation.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48868166"/>
                  </a:ext>
                </a:extLst>
              </a:tr>
              <a:tr h="1887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Ahmed Waleed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Designed and trained ML models (text &amp; image).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 </a:t>
                      </a:r>
                      <a:r>
                        <a:rPr lang="en-US"/>
                        <a:t>Implemented </a:t>
                      </a:r>
                      <a:r>
                        <a:rPr lang="en-US" smtClean="0"/>
                        <a:t>Rss </a:t>
                      </a:r>
                      <a:r>
                        <a:rPr lang="en-US" dirty="0"/>
                        <a:t>and preprocessing.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Improved model accuracy and testing.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8302122"/>
                  </a:ext>
                </a:extLst>
              </a:tr>
              <a:tr h="5921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Both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Worked together on dataset collection, testing, and final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067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44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9" y="576389"/>
            <a:ext cx="11394442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" y="1901952"/>
            <a:ext cx="12033503" cy="4846319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sz="2000" dirty="0"/>
              <a:t>[1] “Fake News Detection Using Machine Learning and Web Scraping,” International Research Journal of Engineering and Technology (IRJET), vol. 11, no. 5, May 2024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[2] </a:t>
            </a:r>
            <a:r>
              <a:rPr lang="en-US" sz="2000" dirty="0" err="1"/>
              <a:t>Khanam</a:t>
            </a:r>
            <a:r>
              <a:rPr lang="en-US" sz="2000" dirty="0"/>
              <a:t>, Z. </a:t>
            </a:r>
            <a:r>
              <a:rPr lang="en-US" sz="2000" i="1" dirty="0"/>
              <a:t>et al.</a:t>
            </a:r>
            <a:r>
              <a:rPr lang="en-US" sz="2000" dirty="0"/>
              <a:t>, “Fake News Detection Using Machine Learning Approaches,” </a:t>
            </a:r>
            <a:r>
              <a:rPr lang="en-US" sz="2000" i="1" dirty="0"/>
              <a:t>IOP Conf. Ser.: Mater. Sci. Eng.</a:t>
            </a:r>
            <a:r>
              <a:rPr lang="en-US" sz="2000" dirty="0"/>
              <a:t>, Vol. 1099, 2021.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[3] I. Segura-</a:t>
            </a:r>
            <a:r>
              <a:rPr lang="en-US" sz="2000" dirty="0" err="1"/>
              <a:t>Bedmar</a:t>
            </a:r>
            <a:r>
              <a:rPr lang="en-US" sz="2000" dirty="0"/>
              <a:t> and S. Alonso-</a:t>
            </a:r>
            <a:r>
              <a:rPr lang="en-US" sz="2000" dirty="0" err="1"/>
              <a:t>Bartolome</a:t>
            </a:r>
            <a:r>
              <a:rPr lang="en-US" sz="2000" dirty="0"/>
              <a:t>, “Multimodal Fake News Detection,” </a:t>
            </a:r>
            <a:r>
              <a:rPr lang="en-US" sz="2000" i="1" dirty="0"/>
              <a:t>Information</a:t>
            </a:r>
            <a:r>
              <a:rPr lang="en-US" sz="2000" dirty="0"/>
              <a:t>, vol. 13, no. 6, p. 284, Jun. 2022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[4] J. Jing, H. Wu, J. Sun, X. Fang, and H. Zhang, “Multimodal fake news detection via progressive fusion networks,” </a:t>
            </a:r>
            <a:r>
              <a:rPr lang="en-US" sz="2000" i="1" dirty="0"/>
              <a:t>Information Processing &amp; Management</a:t>
            </a:r>
            <a:r>
              <a:rPr lang="en-US" sz="2000" dirty="0"/>
              <a:t>, vol. 60, no. 1, p. 103120, Jan. 2023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[5] K. Nakamura, S. Levy, and William Yang Wang, “r/</a:t>
            </a:r>
            <a:r>
              <a:rPr lang="en-US" sz="2000" dirty="0" err="1"/>
              <a:t>Fakeddit</a:t>
            </a:r>
            <a:r>
              <a:rPr lang="en-US" sz="2000" dirty="0"/>
              <a:t>: A New Multimodal Benchmark Dataset for Fine-grained Fake News Detection,” </a:t>
            </a:r>
            <a:r>
              <a:rPr lang="en-US" sz="2000" i="1" dirty="0" err="1"/>
              <a:t>arXiv</a:t>
            </a:r>
            <a:r>
              <a:rPr lang="en-US" sz="2000" i="1" dirty="0"/>
              <a:t> (Cornell University)</a:t>
            </a:r>
            <a:r>
              <a:rPr lang="en-US" sz="2000" dirty="0"/>
              <a:t>, Nov. </a:t>
            </a:r>
            <a:r>
              <a:rPr lang="en-US" sz="2000" dirty="0" smtClean="0"/>
              <a:t>2019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[6]</a:t>
            </a:r>
            <a:r>
              <a:rPr lang="en-US" sz="2000" dirty="0"/>
              <a:t> E. A. </a:t>
            </a:r>
            <a:r>
              <a:rPr lang="en-US" sz="2000" dirty="0" err="1"/>
              <a:t>Lisangan</a:t>
            </a:r>
            <a:r>
              <a:rPr lang="en-US" sz="2000" dirty="0"/>
              <a:t>, A. L. </a:t>
            </a:r>
            <a:r>
              <a:rPr lang="en-US" sz="2000" dirty="0" err="1"/>
              <a:t>Tungadi</a:t>
            </a:r>
            <a:r>
              <a:rPr lang="en-US" sz="2000" dirty="0"/>
              <a:t>, and F. </a:t>
            </a:r>
            <a:r>
              <a:rPr lang="en-US" sz="2000" dirty="0" err="1"/>
              <a:t>Wibowo</a:t>
            </a:r>
            <a:r>
              <a:rPr lang="en-US" sz="2000" dirty="0"/>
              <a:t>, “Fake News Detection: An Image-Based Semi-Automated Method Using Statistic Feature,” </a:t>
            </a:r>
            <a:r>
              <a:rPr lang="en-US" sz="2000" i="1" dirty="0"/>
              <a:t>AIP Conference Proceedings</a:t>
            </a:r>
            <a:r>
              <a:rPr lang="en-US" sz="2000" dirty="0"/>
              <a:t>, vol. 2578, no. 060002, pp. 1–8, Nov. </a:t>
            </a:r>
            <a:r>
              <a:rPr lang="en-US" sz="2000" dirty="0" smtClean="0"/>
              <a:t>2022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[7] N</a:t>
            </a:r>
            <a:r>
              <a:rPr lang="en-US" sz="2000" dirty="0"/>
              <a:t>. M. </a:t>
            </a:r>
            <a:r>
              <a:rPr lang="en-US" sz="2000" dirty="0" err="1"/>
              <a:t>Duc</a:t>
            </a:r>
            <a:r>
              <a:rPr lang="en-US" sz="2000" dirty="0"/>
              <a:t> Tuan and P. </a:t>
            </a:r>
            <a:r>
              <a:rPr lang="en-US" sz="2000" dirty="0" err="1"/>
              <a:t>Quang</a:t>
            </a:r>
            <a:r>
              <a:rPr lang="en-US" sz="2000" dirty="0"/>
              <a:t> </a:t>
            </a:r>
            <a:r>
              <a:rPr lang="en-US" sz="2000" dirty="0" err="1"/>
              <a:t>Nhat</a:t>
            </a:r>
            <a:r>
              <a:rPr lang="en-US" sz="2000" dirty="0"/>
              <a:t> Minh, "Multimodal Fusion with BERT and Attention Mechanism for Fake News Detection," 2021 RIVF International Conference on Computing and Communication Technologies (RIVF), Hanoi, Vietnam, </a:t>
            </a:r>
            <a:r>
              <a:rPr lang="en-US" sz="2000" dirty="0" smtClean="0"/>
              <a:t>2021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 smtClean="0"/>
              <a:t>[8] </a:t>
            </a:r>
            <a:r>
              <a:rPr lang="en-US" sz="2000" dirty="0" err="1" smtClean="0"/>
              <a:t>Skafle</a:t>
            </a:r>
            <a:r>
              <a:rPr lang="en-US" sz="2000" dirty="0" smtClean="0"/>
              <a:t> </a:t>
            </a:r>
            <a:r>
              <a:rPr lang="en-US" sz="2000" dirty="0"/>
              <a:t>I, </a:t>
            </a:r>
            <a:r>
              <a:rPr lang="en-US" sz="2000" dirty="0" err="1"/>
              <a:t>Nordahl</a:t>
            </a:r>
            <a:r>
              <a:rPr lang="en-US" sz="2000" dirty="0"/>
              <a:t>-Hansen A, Quintana D, Wynn R, </a:t>
            </a:r>
            <a:r>
              <a:rPr lang="en-US" sz="2000" dirty="0" err="1"/>
              <a:t>Gabarron</a:t>
            </a:r>
            <a:r>
              <a:rPr lang="en-US" sz="2000" dirty="0"/>
              <a:t> </a:t>
            </a:r>
            <a:r>
              <a:rPr lang="en-US" sz="2000" dirty="0" err="1" smtClean="0"/>
              <a:t>EMisinformation</a:t>
            </a:r>
            <a:r>
              <a:rPr lang="en-US" sz="2000" dirty="0" smtClean="0"/>
              <a:t> </a:t>
            </a:r>
            <a:r>
              <a:rPr lang="en-US" sz="2000" dirty="0"/>
              <a:t>About COVID-19 Vaccines on Social Media: Rapid </a:t>
            </a:r>
            <a:r>
              <a:rPr lang="en-US" sz="2000" dirty="0" err="1" smtClean="0"/>
              <a:t>ReviewJ</a:t>
            </a:r>
            <a:r>
              <a:rPr lang="en-US" sz="2000" dirty="0" smtClean="0"/>
              <a:t> </a:t>
            </a:r>
            <a:r>
              <a:rPr lang="en-US" sz="2000" dirty="0"/>
              <a:t>Med Internet Res </a:t>
            </a:r>
            <a:r>
              <a:rPr lang="en-US" sz="2000" dirty="0" smtClean="0"/>
              <a:t>2024;24(8</a:t>
            </a:r>
            <a:r>
              <a:rPr lang="en-US" sz="2000" dirty="0"/>
              <a:t>):</a:t>
            </a:r>
            <a:r>
              <a:rPr lang="en-US" sz="2000" dirty="0" smtClean="0"/>
              <a:t>e37367</a:t>
            </a:r>
          </a:p>
          <a:p>
            <a:pPr marL="114300" indent="0">
              <a:buNone/>
            </a:pPr>
            <a:endParaRPr lang="en-US" sz="2000" dirty="0" smtClean="0"/>
          </a:p>
          <a:p>
            <a:pPr marL="114300" indent="0">
              <a:buNone/>
            </a:pPr>
            <a:r>
              <a:rPr lang="en-US" sz="2400" dirty="0" smtClean="0"/>
              <a:t>[9] </a:t>
            </a:r>
            <a:r>
              <a:rPr lang="en-US" sz="2200" dirty="0" smtClean="0"/>
              <a:t>I</a:t>
            </a:r>
            <a:r>
              <a:rPr lang="en-US" sz="2200" dirty="0"/>
              <a:t>. Segura-</a:t>
            </a:r>
            <a:r>
              <a:rPr lang="en-US" sz="2200" dirty="0" err="1"/>
              <a:t>Bedmar</a:t>
            </a:r>
            <a:r>
              <a:rPr lang="en-US" sz="2200" dirty="0"/>
              <a:t> and S. Alonso-</a:t>
            </a:r>
            <a:r>
              <a:rPr lang="en-US" sz="2200" dirty="0" err="1"/>
              <a:t>Bartolome</a:t>
            </a:r>
            <a:r>
              <a:rPr lang="en-US" sz="2200" dirty="0"/>
              <a:t>, “Multimodal Fake News Detection,” </a:t>
            </a:r>
            <a:r>
              <a:rPr lang="en-US" sz="2200" i="1" dirty="0"/>
              <a:t>Information</a:t>
            </a:r>
            <a:r>
              <a:rPr lang="en-US" sz="2200" dirty="0"/>
              <a:t>, vol. 13, no. 6, p. 284, Jun. 2022, </a:t>
            </a:r>
            <a:r>
              <a:rPr lang="en-US" sz="2200" dirty="0" err="1"/>
              <a:t>doi</a:t>
            </a:r>
            <a:r>
              <a:rPr lang="en-US" sz="2200" dirty="0" smtClean="0"/>
              <a:t>:. </a:t>
            </a:r>
            <a:endParaRPr lang="en-US" sz="3300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3003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18" y="546875"/>
            <a:ext cx="11394442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Why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fakeddit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23823"/>
              </p:ext>
            </p:extLst>
          </p:nvPr>
        </p:nvGraphicFramePr>
        <p:xfrm>
          <a:off x="0" y="1872438"/>
          <a:ext cx="12184655" cy="494700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996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864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864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120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5691">
                <a:tc>
                  <a:txBody>
                    <a:bodyPr/>
                    <a:lstStyle/>
                    <a:p>
                      <a:r>
                        <a:rPr lang="en-US" sz="1600" u="sng" dirty="0"/>
                        <a:t>Feature / Point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sng" dirty="0" err="1">
                          <a:effectLst/>
                        </a:rPr>
                        <a:t>FakeNewsNet</a:t>
                      </a:r>
                      <a:endParaRPr lang="en-US" sz="1600" u="sn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sng" dirty="0" err="1">
                          <a:effectLst/>
                        </a:rPr>
                        <a:t>Fakeddit</a:t>
                      </a:r>
                      <a:endParaRPr lang="en-US" sz="1600" u="sn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sng" dirty="0">
                          <a:effectLst/>
                        </a:rPr>
                        <a:t>Twitter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4674">
                <a:tc>
                  <a:txBody>
                    <a:bodyPr/>
                    <a:lstStyle/>
                    <a:p>
                      <a:r>
                        <a:rPr lang="en-US" sz="1600" u="sng" dirty="0"/>
                        <a:t>Source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PolitiFact + BuzzFeed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Reddit (posts, memes, comments)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Twitter (tweets, retweets, hashtags)</a:t>
                      </a:r>
                      <a:endParaRPr lang="en-US" sz="16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5691">
                <a:tc>
                  <a:txBody>
                    <a:bodyPr/>
                    <a:lstStyle/>
                    <a:p>
                      <a:r>
                        <a:rPr lang="en-US" sz="1600" u="sng" dirty="0"/>
                        <a:t>Modalities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Text + limited/broken images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Text + Image + Metadata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Text only</a:t>
                      </a:r>
                      <a:endParaRPr lang="en-US" sz="1600" b="0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5691">
                <a:tc>
                  <a:txBody>
                    <a:bodyPr/>
                    <a:lstStyle/>
                    <a:p>
                      <a:r>
                        <a:rPr lang="en-US" sz="1600" u="sng" dirty="0"/>
                        <a:t>Data Size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~23K articles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1.06M+ posts</a:t>
                      </a:r>
                      <a:endParaRPr lang="en-US" sz="1600" b="0" u="non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~100K tweets</a:t>
                      </a:r>
                      <a:endParaRPr lang="en-US" sz="1600" b="0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5691">
                <a:tc>
                  <a:txBody>
                    <a:bodyPr/>
                    <a:lstStyle/>
                    <a:p>
                      <a:r>
                        <a:rPr lang="en-US" sz="1600" u="sng" dirty="0"/>
                        <a:t>Labels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Binary (Real / Fake)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6-class (can be merged to binary)</a:t>
                      </a:r>
                      <a:endParaRPr lang="en-US" sz="1600" b="0" u="non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Binary (Fake / Real)</a:t>
                      </a:r>
                      <a:endParaRPr lang="en-US" sz="1600" b="0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5691">
                <a:tc>
                  <a:txBody>
                    <a:bodyPr/>
                    <a:lstStyle/>
                    <a:p>
                      <a:r>
                        <a:rPr lang="en-US" sz="1600" u="sng" dirty="0"/>
                        <a:t>Strengths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Verified, fact-checked news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Large-scale, multimodal, diverse</a:t>
                      </a:r>
                      <a:endParaRPr lang="en-US" sz="1600" b="0" u="non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/>
                        <a:t>Real-time social data</a:t>
                      </a:r>
                      <a:endParaRPr lang="en-US" sz="1600" b="0" u="non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74674">
                <a:tc>
                  <a:txBody>
                    <a:bodyPr/>
                    <a:lstStyle/>
                    <a:p>
                      <a:r>
                        <a:rPr lang="en-US" sz="1600" u="sng"/>
                        <a:t>Gap / Limitations</a:t>
                      </a:r>
                      <a:endParaRPr lang="en-US" sz="1600" b="1" u="sng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Small and outdated, many missing images, limited to politics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Some noise and informal Reddit posts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Text-only, short and noisy tweets, lacks visual context</a:t>
                      </a:r>
                      <a:endParaRPr lang="en-US" sz="16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24056">
                <a:tc>
                  <a:txBody>
                    <a:bodyPr/>
                    <a:lstStyle/>
                    <a:p>
                      <a:r>
                        <a:rPr lang="en-US" sz="1600" u="sng" dirty="0"/>
                        <a:t>Why Choose </a:t>
                      </a:r>
                      <a:r>
                        <a:rPr lang="en-US" sz="1600" u="sng" dirty="0" err="1"/>
                        <a:t>Fakeddit</a:t>
                      </a:r>
                      <a:r>
                        <a:rPr lang="en-US" sz="1600" u="sng" dirty="0"/>
                        <a:t>?</a:t>
                      </a:r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Limited &amp; not multimodal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Best for multimodal deep learning (text + image)</a:t>
                      </a:r>
                      <a:endParaRPr lang="en-US" sz="1600" b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u="none" dirty="0"/>
                        <a:t>Text-based </a:t>
                      </a:r>
                      <a:r>
                        <a:rPr lang="en-US" sz="1600" u="none" dirty="0" smtClean="0"/>
                        <a:t>only,</a:t>
                      </a:r>
                      <a:endParaRPr lang="en-US" sz="16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63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760201" cy="132556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Metadata?</a:t>
            </a:r>
            <a:endParaRPr lang="ar-E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 dirty="0" smtClean="0"/>
          </a:p>
          <a:p>
            <a:pPr marL="114300" indent="0">
              <a:buNone/>
            </a:pPr>
            <a:r>
              <a:rPr lang="en-US" dirty="0">
                <a:solidFill>
                  <a:schemeClr val="bg1"/>
                </a:solidFill>
              </a:rPr>
              <a:t>c</a:t>
            </a:r>
            <a:endParaRPr lang="ar-EG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627141"/>
              </p:ext>
            </p:extLst>
          </p:nvPr>
        </p:nvGraphicFramePr>
        <p:xfrm>
          <a:off x="-1" y="1793633"/>
          <a:ext cx="12045624" cy="506436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6022812"/>
                <a:gridCol w="6022812"/>
              </a:tblGrid>
              <a:tr h="398769"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 </a:t>
                      </a:r>
                      <a:r>
                        <a:rPr lang="en-US" dirty="0"/>
                        <a:t>Value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Post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/>
                        <a:t>10234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NASA confirms water on Mars!</a:t>
                      </a:r>
                    </a:p>
                  </a:txBody>
                  <a:tcPr anchor="ctr"/>
                </a:tc>
              </a:tr>
              <a:tr h="677908">
                <a:tc>
                  <a:txBody>
                    <a:bodyPr/>
                    <a:lstStyle/>
                    <a:p>
                      <a:r>
                        <a:rPr lang="en-US"/>
                        <a:t>Text (Summary)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NASA scientists discovered traces of frozen water beneath the Martian surface.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Image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https://i.redd.it/marswater.jpg</a:t>
                      </a:r>
                      <a:endParaRPr lang="en-US"/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Source / Subreddit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r/space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Author /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u/astro_life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Publish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/>
                        <a:t>2022-06-15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Upvotes /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/>
                        <a:t>4200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Num. of Comments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EG"/>
                        <a:t>560</a:t>
                      </a:r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/>
                        <a:t>URL /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3"/>
                        </a:rPr>
                        <a:t>https://reddit.com/r/space/10234</a:t>
                      </a:r>
                      <a:endParaRPr lang="en-US"/>
                    </a:p>
                  </a:txBody>
                  <a:tcPr anchor="ctr"/>
                </a:tc>
              </a:tr>
              <a:tr h="398769">
                <a:tc>
                  <a:txBody>
                    <a:bodyPr/>
                    <a:lstStyle/>
                    <a:p>
                      <a:r>
                        <a:rPr lang="en-US" dirty="0"/>
                        <a:t>Label (Verdict)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Real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99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15563</TotalTime>
  <Words>1899</Words>
  <Application>Microsoft Office PowerPoint</Application>
  <PresentationFormat>Custom</PresentationFormat>
  <Paragraphs>479</Paragraphs>
  <Slides>37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Outlines</vt:lpstr>
      <vt:lpstr>Introduction (1/2) </vt:lpstr>
      <vt:lpstr>Introduction (2/2) </vt:lpstr>
      <vt:lpstr>Motivation(1/2) </vt:lpstr>
      <vt:lpstr>Motivation(2/2) </vt:lpstr>
      <vt:lpstr> Problem Definition </vt:lpstr>
      <vt:lpstr>Objectives</vt:lpstr>
      <vt:lpstr>Literature Review – Paper 1</vt:lpstr>
      <vt:lpstr>Literature Review – Paper 2</vt:lpstr>
      <vt:lpstr>Literature Review – Paper 3</vt:lpstr>
      <vt:lpstr>Literature Review – Paper 4</vt:lpstr>
      <vt:lpstr>Dataset</vt:lpstr>
      <vt:lpstr>                        System Architecture   </vt:lpstr>
      <vt:lpstr>                         Model Architecture </vt:lpstr>
      <vt:lpstr> Sequence Diagram  </vt:lpstr>
      <vt:lpstr> Class Diagram  </vt:lpstr>
      <vt:lpstr> Use case Diagram  </vt:lpstr>
      <vt:lpstr>Model Overview</vt:lpstr>
      <vt:lpstr>Preprocessing and cleaning </vt:lpstr>
      <vt:lpstr>Sample pictures  </vt:lpstr>
      <vt:lpstr>Training Strategy</vt:lpstr>
      <vt:lpstr>Evaluation Metrics</vt:lpstr>
      <vt:lpstr>Design Patterns &amp; Architecture</vt:lpstr>
      <vt:lpstr>Unit Testing</vt:lpstr>
      <vt:lpstr>Integration Testing</vt:lpstr>
      <vt:lpstr>System Testing</vt:lpstr>
      <vt:lpstr>Bugs</vt:lpstr>
      <vt:lpstr>                              Challenges</vt:lpstr>
      <vt:lpstr>Requirements</vt:lpstr>
      <vt:lpstr>Future work </vt:lpstr>
      <vt:lpstr>Project Time Plan</vt:lpstr>
      <vt:lpstr>PowerPoint Presentation</vt:lpstr>
      <vt:lpstr>References</vt:lpstr>
      <vt:lpstr>PowerPoint Presentation</vt:lpstr>
      <vt:lpstr>Why fakeddit?</vt:lpstr>
      <vt:lpstr> Metadata?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XPRISTO</cp:lastModifiedBy>
  <cp:revision>135</cp:revision>
  <dcterms:modified xsi:type="dcterms:W3CDTF">2026-06-15T03:42:36Z</dcterms:modified>
</cp:coreProperties>
</file>